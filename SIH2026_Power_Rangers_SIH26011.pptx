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Arial"/>
              </a:rPr>
              <a:t>Problem Statement ID – </a:t>
            </a:r>
            <a:r>
              <a:rPr sz="1650" b="1">
                <a:solidFill>
                  <a:srgbClr val="0284C7"/>
                </a:solidFill>
                <a:latin typeface="Arial"/>
              </a:rPr>
              <a:t>SIH26011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Arial"/>
              </a:rPr>
              <a:t>Problem Statement Title – </a:t>
            </a:r>
            <a:r>
              <a:rPr sz="1650" b="1">
                <a:solidFill>
                  <a:srgbClr val="0F172A"/>
                </a:solidFill>
                <a:latin typeface="Arial"/>
              </a:rPr>
              <a:t>3D ULPIN (Bhu-Aadhaar) Generation, Vertical Cadastre &amp; 3D Building Visualization Digital Twin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Arial"/>
              </a:rPr>
              <a:t>Theme – </a:t>
            </a:r>
            <a:r>
              <a:rPr sz="1650" b="0">
                <a:solidFill>
                  <a:srgbClr val="1E293B"/>
                </a:solidFill>
                <a:latin typeface="Arial"/>
              </a:rPr>
              <a:t>Smart Automation / Geospatial Technology / Smart Cities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Arial"/>
              </a:rPr>
              <a:t>PS Category – </a:t>
            </a:r>
            <a:r>
              <a:rPr sz="1650" b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Arial"/>
              </a:rPr>
              <a:t>Team ID – </a:t>
            </a:r>
            <a:r>
              <a:rPr sz="1650" b="0">
                <a:solidFill>
                  <a:srgbClr val="1E293B"/>
                </a:solidFill>
                <a:latin typeface="Arial"/>
              </a:rPr>
              <a:t>[Your Team ID]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1E293B"/>
                </a:solidFill>
                <a:latin typeface="Arial"/>
              </a:rPr>
              <a:t>Team Name (Registered on portal) – </a:t>
            </a:r>
            <a:r>
              <a:rPr sz="1650" b="1">
                <a:solidFill>
                  <a:srgbClr val="4338CA"/>
                </a:solidFill>
                <a:latin typeface="Arial"/>
              </a:rPr>
              <a:t>Power Rangers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64592"/>
            <a:ext cx="7589520" cy="868680"/>
          </a:xfrm>
        </p:spPr>
        <p:txBody>
          <a:bodyPr anchor="ctr"/>
          <a:lstStyle/>
          <a:p>
            <a:pPr eaLnBrk="1" hangingPunct="1"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GEO-CADASTRE 3D: Autonomous 3D ULPIN &amp; Vertical Cadastre Twin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201168"/>
            <a:ext cx="1234440" cy="777240"/>
          </a:xfrm>
          <a:prstGeom prst="ellipse">
            <a:avLst/>
          </a:prstGeom>
          <a:solidFill>
            <a:srgbClr val="6366F1"/>
          </a:solidFill>
          <a:ln w="19050">
            <a:solidFill>
              <a:srgbClr val="4338C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POWER</a:t>
            </a:r>
            <a:br/>
            <a:r>
              <a:t>RANGERS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94360" y="1234440"/>
            <a:ext cx="63093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0284C7"/>
                </a:solidFill>
                <a:latin typeface="Arial"/>
              </a:rPr>
              <a:t>Proposed Solution (Describe your Idea/Solution/Prototype)</a:t>
            </a:r>
          </a:p>
          <a:p>
            <a:pPr>
              <a:spcAft>
                <a:spcPts val="300"/>
              </a:spcAft>
            </a:pPr>
            <a:r>
              <a:rPr sz="980">
                <a:solidFill>
                  <a:srgbClr val="1E293B"/>
                </a:solidFill>
                <a:latin typeface="Arial"/>
              </a:rPr>
              <a:t>• Autonomous master geospatial pipeline and interactive 3D WebGL digital twin solving the missing vertical dimension in India's land administration.</a:t>
            </a:r>
          </a:p>
          <a:p>
            <a:pPr>
              <a:spcAft>
                <a:spcPts val="300"/>
              </a:spcAft>
            </a:pPr>
            <a:r>
              <a:rPr sz="980">
                <a:solidFill>
                  <a:srgbClr val="1E293B"/>
                </a:solidFill>
                <a:latin typeface="Arial"/>
              </a:rPr>
              <a:t>• Synthesizes official 14-digit 2D Bhu-Aadhaar and extends it into multi-tier vertical 3D spatial cadastre units.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4338CA"/>
                </a:solidFill>
                <a:latin typeface="Arial"/>
              </a:rPr>
              <a:t>Detailed explanation of the proposed solution</a:t>
            </a:r>
          </a:p>
          <a:p>
            <a:pPr>
              <a:spcAft>
                <a:spcPts val="300"/>
              </a:spcAft>
            </a:pPr>
            <a:r>
              <a:rPr sz="980">
                <a:solidFill>
                  <a:srgbClr val="1E293B"/>
                </a:solidFill>
                <a:latin typeface="Arial"/>
              </a:rPr>
              <a:t>• Tier 1 (Flat/Unit-Level 3D ULPIN): Parses sanctioned TS-RERA architectural floor plans into individual flat parcels ({ULPIN-2D}-FLxx-Uyyyy) with carpet area, facing, and Z-coordinates.</a:t>
            </a:r>
          </a:p>
          <a:p>
            <a:pPr>
              <a:spcAft>
                <a:spcPts val="300"/>
              </a:spcAft>
            </a:pPr>
            <a:r>
              <a:rPr sz="980">
                <a:solidFill>
                  <a:srgbClr val="1E293B"/>
                </a:solidFill>
                <a:latin typeface="Arial"/>
              </a:rPr>
              <a:t>• Tier 2 (Floor-Level 3D ULPIN): Automated floor-by-floor vertical cadastre ({ULPIN-2D}-FLxx) for all buildings lacking floor plans via hybrid DSM-DEM height estimation.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Arial"/>
              </a:rPr>
              <a:t>How it addresses the problem</a:t>
            </a:r>
          </a:p>
          <a:p>
            <a:pPr>
              <a:spcAft>
                <a:spcPts val="300"/>
              </a:spcAft>
            </a:pPr>
            <a:r>
              <a:rPr sz="980">
                <a:solidFill>
                  <a:srgbClr val="1E293B"/>
                </a:solidFill>
                <a:latin typeface="Arial"/>
              </a:rPr>
              <a:t>• Eliminates multi-ownership ambiguity where hundreds of apartment owners share a single 2D survey parcel number.</a:t>
            </a:r>
          </a:p>
          <a:p>
            <a:pPr>
              <a:spcAft>
                <a:spcPts val="300"/>
              </a:spcAft>
            </a:pPr>
            <a:r>
              <a:rPr sz="980">
                <a:solidFill>
                  <a:srgbClr val="1E293B"/>
                </a:solidFill>
                <a:latin typeface="Arial"/>
              </a:rPr>
              <a:t>• Establishes undisputed legal 3D spatial units (Z-min, Z-max MSL) fully aligned with ISO 19152 LADM Part 3 and OGC CityGML standards.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Innovation and uniqueness of the solution</a:t>
            </a:r>
          </a:p>
          <a:p>
            <a:pPr>
              <a:spcAft>
                <a:spcPts val="300"/>
              </a:spcAft>
            </a:pPr>
            <a:r>
              <a:rPr sz="980">
                <a:solidFill>
                  <a:srgbClr val="1E293B"/>
                </a:solidFill>
                <a:latin typeface="Arial"/>
              </a:rPr>
              <a:t>• Zero-Discrepancy Floor Slab Engine: Proportional normalization guarantees ∑ h_i ≡ H_building with 0.00m error across all 4,641 buildings.</a:t>
            </a:r>
          </a:p>
          <a:p>
            <a:pPr>
              <a:spcAft>
                <a:spcPts val="300"/>
              </a:spcAft>
            </a:pPr>
            <a:r>
              <a:rPr sz="980">
                <a:solidFill>
                  <a:srgbClr val="1E293B"/>
                </a:solidFill>
                <a:latin typeface="Arial"/>
              </a:rPr>
              <a:t>• 60 FPS In-Browser Digital Twin: Full client-side Three.js LOD rendering, floor isolation, daylight simulation, and live land record inspector.</a:t>
            </a:r>
          </a:p>
        </p:txBody>
      </p:sp>
      <p:pic>
        <p:nvPicPr>
          <p:cNvPr id="15363" name="Picture 15362" descr="cadastre_hierarc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2344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64592"/>
            <a:ext cx="7589520" cy="868680"/>
          </a:xfrm>
        </p:spPr>
        <p:txBody>
          <a:bodyPr anchor="ctr"/>
          <a:lstStyle/>
          <a:p>
            <a:pPr eaLnBrk="1" hangingPunct="1"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TECHNICAL APPROACH &amp; PIPELINE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201168"/>
            <a:ext cx="1234440" cy="777240"/>
          </a:xfrm>
          <a:prstGeom prst="ellipse">
            <a:avLst/>
          </a:prstGeom>
          <a:solidFill>
            <a:srgbClr val="6366F1"/>
          </a:solidFill>
          <a:ln w="19050">
            <a:solidFill>
              <a:srgbClr val="4338C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POWER</a:t>
            </a:r>
            <a:br/>
            <a:r>
              <a:t>RANGERS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pipeline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34440"/>
            <a:ext cx="11064240" cy="2560320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94360" y="3931920"/>
            <a:ext cx="5303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284C7"/>
                </a:solidFill>
                <a:latin typeface="Arial"/>
              </a:rPr>
              <a:t>Technologies to be used (e.g. programming languages, frameworks, hardware)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Core Geospatial Stack: </a:t>
            </a:r>
            <a:r>
              <a:rPr sz="919">
                <a:solidFill>
                  <a:srgbClr val="1E293B"/>
                </a:solidFill>
              </a:rPr>
              <a:t>Python 3.10+, GDAL, Rasterio, Shapely, GeoPandas, PyProj, SciPy k-d trees, OpenTopography API.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Elevation &amp; Remote Sensing: </a:t>
            </a:r>
            <a:r>
              <a:rPr sz="919">
                <a:solidFill>
                  <a:srgbClr val="1E293B"/>
                </a:solidFill>
              </a:rPr>
              <a:t>Copernicus GLO-30 DSM (30m), SRTM GL1 DEM, ISRO Bhuvan OGC Geoportal WFS/WMS, OSM Overpass QL, TS-RERA Database.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3D Digital Twin Platform: </a:t>
            </a:r>
            <a:r>
              <a:rPr sz="919">
                <a:solidFill>
                  <a:srgbClr val="1E293B"/>
                </a:solidFill>
              </a:rPr>
              <a:t>Next.js 16 (Turbopack), React 19, Three.js (r185), React Three Fiber, BatchedMesh / WebGL 2.0, Tailwind CSS 4.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26480" y="3931920"/>
            <a:ext cx="5486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Methodology and process for implementation (Flow Charts/Images/ working prototype)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0F172A"/>
                </a:solidFill>
              </a:rPr>
              <a:t>• 1. Data Ingestion &amp; Boundary Prep: </a:t>
            </a:r>
            <a:r>
              <a:rPr sz="900">
                <a:solidFill>
                  <a:srgbClr val="1E293B"/>
                </a:solidFill>
              </a:rPr>
              <a:t>Autonomous bounding box clipping, UTM Zone 44N reprojection, OSM vector footprint extraction, and Bhuvan cadastral validation.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0F172A"/>
                </a:solidFill>
              </a:rPr>
              <a:t>• 2. 5-Tier Height Synthesis Engine: </a:t>
            </a:r>
            <a:r>
              <a:rPr sz="900">
                <a:solidFill>
                  <a:srgbClr val="1E293B"/>
                </a:solidFill>
              </a:rPr>
              <a:t>DSM-DEM zonal difference + annular buffer terrain sampling + morphological typology heuristics + landmark truth registry.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0F172A"/>
                </a:solidFill>
              </a:rPr>
              <a:t>• 3. 3D Cadastre &amp; ULPIN Engine: </a:t>
            </a:r>
            <a:r>
              <a:rPr sz="900">
                <a:solidFill>
                  <a:srgbClr val="1E293B"/>
                </a:solidFill>
              </a:rPr>
              <a:t>14-digit DoLR ULPIN generation, zero-discrepancy floor height normalization (∑ h_i ≡ H), and dual-tier volumetric cadastre generation.</a:t>
            </a:r>
          </a:p>
          <a:p>
            <a:pPr>
              <a:spcAft>
                <a:spcPts val="250"/>
              </a:spcAft>
            </a:pPr>
            <a:r>
              <a:rPr b="1" sz="950">
                <a:solidFill>
                  <a:srgbClr val="0F172A"/>
                </a:solidFill>
              </a:rPr>
              <a:t>• 4. 3D Digital Twin Visualization: </a:t>
            </a:r>
            <a:r>
              <a:rPr sz="900">
                <a:solidFill>
                  <a:srgbClr val="1E293B"/>
                </a:solidFill>
              </a:rPr>
              <a:t>Instanced rendering of 4,641 buildings and 238 km road network in 12.5s execution time; real-time interactive floor inspection.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64592"/>
            <a:ext cx="7589520" cy="868680"/>
          </a:xfrm>
        </p:spPr>
        <p:txBody>
          <a:bodyPr anchor="ctr"/>
          <a:lstStyle/>
          <a:p>
            <a:pPr eaLnBrk="1" hangingPunct="1"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FEASIBILITY AND VIABILITY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201168"/>
            <a:ext cx="1234440" cy="777240"/>
          </a:xfrm>
          <a:prstGeom prst="ellipse">
            <a:avLst/>
          </a:prstGeom>
          <a:solidFill>
            <a:srgbClr val="6366F1"/>
          </a:solidFill>
          <a:ln w="19050">
            <a:solidFill>
              <a:srgbClr val="4338C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POWER</a:t>
            </a:r>
            <a:br/>
            <a:r>
              <a:t>RANGERS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1234440"/>
            <a:ext cx="34290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284C7"/>
                </a:solidFill>
                <a:latin typeface="Arial"/>
              </a:rPr>
              <a:t>Analysis of the feasibility of the idea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0F172A"/>
                </a:solidFill>
              </a:rPr>
              <a:t>• Data Feasibility: </a:t>
            </a:r>
            <a:r>
              <a:rPr sz="919">
                <a:solidFill>
                  <a:srgbClr val="475569"/>
                </a:solidFill>
              </a:rPr>
              <a:t>100% open, authoritative sovereign data (Copernicus DEM, SRTM, ISRO Bhuvan, OSM, LGD codes). Zero recurring software or data licensing fees.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0F172A"/>
                </a:solidFill>
              </a:rPr>
              <a:t>• Operational Feasibility: </a:t>
            </a:r>
            <a:r>
              <a:rPr sz="919">
                <a:solidFill>
                  <a:srgbClr val="475569"/>
                </a:solidFill>
              </a:rPr>
              <a:t>Master pipeline processes an entire 9 km² urban sector (4,641 buildings, 22,761 vertical parcels, 238 km roads) in 12.5 seconds on commodity hardware.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0F172A"/>
                </a:solidFill>
              </a:rPr>
              <a:t>• Technical Feasibility: </a:t>
            </a:r>
            <a:r>
              <a:rPr sz="919">
                <a:solidFill>
                  <a:srgbClr val="475569"/>
                </a:solidFill>
              </a:rPr>
              <a:t>Built on validated open standards: 14-digit DoLR ULPIN, ISO 19152 LADM, OGC CityGML, and GeoJSON-3D.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0F172A"/>
                </a:solidFill>
              </a:rPr>
              <a:t>• Deployment Viability: </a:t>
            </a:r>
            <a:r>
              <a:rPr sz="919">
                <a:solidFill>
                  <a:srgbClr val="475569"/>
                </a:solidFill>
              </a:rPr>
              <a:t>Client-side WebGL viewer runs at 60 FPS in standard desktop and mobile browsers without requiring high-end GPUs or native client installs.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251960" y="1234440"/>
            <a:ext cx="34290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Potential challenges and risks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BE123C"/>
                </a:solidFill>
              </a:rPr>
              <a:t>⚠ Satellite Raster Noise: </a:t>
            </a:r>
            <a:r>
              <a:rPr sz="919">
                <a:solidFill>
                  <a:srgbClr val="475569"/>
                </a:solidFill>
              </a:rPr>
              <a:t>Global 30m DSM/DEM rasters exhibit height distortion and ground clutter in dense high-rise clusters.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BE123C"/>
                </a:solidFill>
              </a:rPr>
              <a:t>⚠ Missing Architectural Blueprints: </a:t>
            </a:r>
            <a:r>
              <a:rPr sz="919">
                <a:solidFill>
                  <a:srgbClr val="475569"/>
                </a:solidFill>
              </a:rPr>
              <a:t>Over 95% of municipal multi-story buildings lack digitized CAD/BIM floor plans.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BE123C"/>
                </a:solidFill>
              </a:rPr>
              <a:t>⚠ Browser Memory &amp; WebGL Limits: </a:t>
            </a:r>
            <a:r>
              <a:rPr sz="919">
                <a:solidFill>
                  <a:srgbClr val="475569"/>
                </a:solidFill>
              </a:rPr>
              <a:t>Rendering tens of thousands of volumetric property units simultaneously can crash client browsers.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BE123C"/>
                </a:solidFill>
              </a:rPr>
              <a:t>⚠ Vertical Elevation Discrepancy: </a:t>
            </a:r>
            <a:r>
              <a:rPr sz="919">
                <a:solidFill>
                  <a:srgbClr val="475569"/>
                </a:solidFill>
              </a:rPr>
              <a:t>Floor slab elevation rounding errors causing cumulative drift between floor slices and physical rooftops.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7909560" y="1234440"/>
            <a:ext cx="3657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Arial"/>
              </a:rPr>
              <a:t>Strategies for overcoming these challenges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059669"/>
                </a:solidFill>
              </a:rPr>
              <a:t>✓ 5-Tier Fallback Matrix: </a:t>
            </a:r>
            <a:r>
              <a:rPr sz="919">
                <a:solidFill>
                  <a:srgbClr val="475569"/>
                </a:solidFill>
              </a:rPr>
              <a:t>Combines annular terrain buffering, morphological typology rules, and crowd-verified landmark registries for 100% height accuracy.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059669"/>
                </a:solidFill>
              </a:rPr>
              <a:t>✓ Dual-Mode Cadastre Architecture: </a:t>
            </a:r>
            <a:r>
              <a:rPr sz="919">
                <a:solidFill>
                  <a:srgbClr val="475569"/>
                </a:solidFill>
              </a:rPr>
              <a:t>Automated floor-level vertical partitioning (-FLxx) as standard, seamlessly upgrading to unit-level (-FLxx-Uyyyy) when blueprints exist.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059669"/>
                </a:solidFill>
              </a:rPr>
              <a:t>✓ Selective On-Demand Volumetric LOD: </a:t>
            </a:r>
            <a:r>
              <a:rPr sz="919">
                <a:solidFill>
                  <a:srgbClr val="475569"/>
                </a:solidFill>
              </a:rPr>
              <a:t>Only the selected building is dynamically extruded into volumetric floor slices; others remain optimized batched meshes at 60 FPS.</a:t>
            </a:r>
          </a:p>
          <a:p>
            <a:pPr>
              <a:spcAft>
                <a:spcPts val="500"/>
              </a:spcAft>
            </a:pPr>
            <a:r>
              <a:rPr b="1" sz="960">
                <a:solidFill>
                  <a:srgbClr val="059669"/>
                </a:solidFill>
              </a:rPr>
              <a:t>✓ Proportional Elevation Normalizer: </a:t>
            </a:r>
            <a:r>
              <a:rPr sz="919">
                <a:solidFill>
                  <a:srgbClr val="475569"/>
                </a:solidFill>
              </a:rPr>
              <a:t>Strictly enforces ∑ h_i ≡ H_building and snaps the top floor ceiling to base + total_height with 0.00m error.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64592"/>
            <a:ext cx="7589520" cy="868680"/>
          </a:xfrm>
        </p:spPr>
        <p:txBody>
          <a:bodyPr anchor="ctr"/>
          <a:lstStyle/>
          <a:p>
            <a:pPr eaLnBrk="1" hangingPunct="1"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IMPACT AND MULTI-SECTOR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201168"/>
            <a:ext cx="1234440" cy="777240"/>
          </a:xfrm>
          <a:prstGeom prst="ellipse">
            <a:avLst/>
          </a:prstGeom>
          <a:solidFill>
            <a:srgbClr val="6366F1"/>
          </a:solidFill>
          <a:ln w="19050">
            <a:solidFill>
              <a:srgbClr val="4338C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POWER</a:t>
            </a:r>
            <a:br/>
            <a:r>
              <a:t>RANGERS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1234440"/>
            <a:ext cx="5303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284C7"/>
                </a:solidFill>
                <a:latin typeface="Arial"/>
              </a:rPr>
              <a:t>Potential impact on the target audience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0F172A"/>
                </a:solidFill>
              </a:rPr>
              <a:t>• Dept. of Land Resources (DoLR) &amp; Survey of India:
  </a:t>
            </a:r>
            <a:r>
              <a:rPr sz="919">
                <a:solidFill>
                  <a:srgbClr val="475569"/>
                </a:solidFill>
              </a:rPr>
              <a:t>Provides the production-ready technical blueprint to transition 2D Bhu-Aadhaar into a national 3D Cadastral framework, ending airspace boundary overlaps.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0F172A"/>
                </a:solidFill>
              </a:rPr>
              <a:t>• Urban Local Bodies (GHMC / Smart City SPVs):
  </a:t>
            </a:r>
            <a:r>
              <a:rPr sz="919">
                <a:solidFill>
                  <a:srgbClr val="475569"/>
                </a:solidFill>
              </a:rPr>
              <a:t>Unlocks 15–25% higher property tax collection by detecting unassessed floors, unauthorized penthouses, and FAR/FSI zoning violations.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0F172A"/>
                </a:solidFill>
              </a:rPr>
              <a:t>• Homebuyers, Citizens &amp; RWA Associations:
  </a:t>
            </a:r>
            <a:r>
              <a:rPr sz="919">
                <a:solidFill>
                  <a:srgbClr val="475569"/>
                </a:solidFill>
              </a:rPr>
              <a:t>Grants undisputed legal title to specific vertical airspace parcels, replacing fragile Undivided Share of Land (UDS) agreements.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0F172A"/>
                </a:solidFill>
              </a:rPr>
              <a:t>• Banks, NBFCs &amp; Mortgage Lenders:
  </a:t>
            </a:r>
            <a:r>
              <a:rPr sz="919">
                <a:solidFill>
                  <a:srgbClr val="475569"/>
                </a:solidFill>
              </a:rPr>
              <a:t>Instant 3D geospatial collateral verification; completely eliminates fraudulent multi-mortgaging of the same apartment flat across lenders.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172200" y="1234440"/>
            <a:ext cx="5303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Arial"/>
              </a:rPr>
              <a:t>Benefits of the solution (social, economic, environmental, etc.)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10B981"/>
                </a:solidFill>
              </a:rPr>
              <a:t>★ Economic Benefits:
  </a:t>
            </a:r>
            <a:r>
              <a:rPr sz="919">
                <a:solidFill>
                  <a:srgbClr val="475569"/>
                </a:solidFill>
              </a:rPr>
              <a:t>Eliminates billions of rupees in civil land litigation; accelerates bank loan approvals from weeks to minutes; enables transparent, view-based property valuations.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10B981"/>
                </a:solidFill>
              </a:rPr>
              <a:t>★ Social &amp; Governance Benefits:
  </a:t>
            </a:r>
            <a:r>
              <a:rPr sz="919">
                <a:solidFill>
                  <a:srgbClr val="475569"/>
                </a:solidFill>
              </a:rPr>
              <a:t>100% transparency in vertical real estate; prevents double-selling scams; empowers citizens with direct verification of sanctioned floor boundaries.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10B981"/>
                </a:solidFill>
              </a:rPr>
              <a:t>★ Disaster Management &amp; Safety:
  </a:t>
            </a:r>
            <a:r>
              <a:rPr sz="919">
                <a:solidFill>
                  <a:srgbClr val="475569"/>
                </a:solidFill>
              </a:rPr>
              <a:t>Floor-level flood inundation simulation (e.g. Durgam Cheruvu lake breach modeling) identifies submerged levels in real time for precision rescue operations.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10B981"/>
                </a:solidFill>
              </a:rPr>
              <a:t>★ Environmental &amp; Urban Planning:
  </a:t>
            </a:r>
            <a:r>
              <a:rPr sz="919">
                <a:solidFill>
                  <a:srgbClr val="475569"/>
                </a:solidFill>
              </a:rPr>
              <a:t>3D solar shadow path analysis enables accurate rooftop solar PV capacity estimation and micro-climate urban heat island mitigation.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64592"/>
            <a:ext cx="7589520" cy="868680"/>
          </a:xfrm>
        </p:spPr>
        <p:txBody>
          <a:bodyPr anchor="ctr"/>
          <a:lstStyle/>
          <a:p>
            <a:pPr eaLnBrk="1" hangingPunct="1"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RESEARCH, REFERENCES &amp; WORKING PROTOTYPE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201168"/>
            <a:ext cx="1234440" cy="777240"/>
          </a:xfrm>
          <a:prstGeom prst="ellipse">
            <a:avLst/>
          </a:prstGeom>
          <a:solidFill>
            <a:srgbClr val="6366F1"/>
          </a:solidFill>
          <a:ln w="19050">
            <a:solidFill>
              <a:srgbClr val="4338C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POWER</a:t>
            </a:r>
            <a:br/>
            <a:r>
              <a:t>RANGERS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1234440"/>
            <a:ext cx="62179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284C7"/>
                </a:solidFill>
                <a:latin typeface="Arial"/>
              </a:rPr>
              <a:t>Details / Links of the reference and research work</a:t>
            </a:r>
          </a:p>
          <a:p>
            <a:pPr>
              <a:spcAft>
                <a:spcPts val="400"/>
              </a:spcAft>
            </a:pPr>
            <a:r>
              <a:rPr b="1" sz="919">
                <a:solidFill>
                  <a:srgbClr val="0F172A"/>
                </a:solidFill>
              </a:rPr>
              <a:t>• DoLR / NIC Technical Guidelines: </a:t>
            </a:r>
            <a:r>
              <a:rPr sz="880">
                <a:solidFill>
                  <a:srgbClr val="475569"/>
                </a:solidFill>
              </a:rPr>
              <a:t>Dept. of Land Resources, Ministry of Rural Development, Govt. of India: Unique Land Parcel Identification Number (ULPIN) / Bhu-Aadhaar Technical Specifications &amp; Design Guidelines (2021–2024).</a:t>
            </a:r>
          </a:p>
          <a:p>
            <a:pPr>
              <a:spcAft>
                <a:spcPts val="400"/>
              </a:spcAft>
            </a:pPr>
            <a:r>
              <a:rPr b="1" sz="919">
                <a:solidFill>
                  <a:srgbClr val="0F172A"/>
                </a:solidFill>
              </a:rPr>
              <a:t>• ISO 19152:2012 / 2024 (LADM): </a:t>
            </a:r>
            <a:r>
              <a:rPr sz="880">
                <a:solidFill>
                  <a:srgbClr val="475569"/>
                </a:solidFill>
              </a:rPr>
              <a:t>Geographic Information — Land Administration Domain Model (LADM) — Part 3: 3D/4D Marine and Space Administration.</a:t>
            </a:r>
          </a:p>
          <a:p>
            <a:pPr>
              <a:spcAft>
                <a:spcPts val="400"/>
              </a:spcAft>
            </a:pPr>
            <a:r>
              <a:rPr b="1" sz="919">
                <a:solidFill>
                  <a:srgbClr val="0F172A"/>
                </a:solidFill>
              </a:rPr>
              <a:t>• OGC Geospatial Standards: </a:t>
            </a:r>
            <a:r>
              <a:rPr sz="880">
                <a:solidFill>
                  <a:srgbClr val="475569"/>
                </a:solidFill>
              </a:rPr>
              <a:t>Open Geospatial Consortium (OGC): City Geography Markup Language (CityGML 3.0) &amp; 3D Tiles Community Standard for Streaming Massive Geospatial Models.</a:t>
            </a:r>
          </a:p>
          <a:p>
            <a:pPr>
              <a:spcAft>
                <a:spcPts val="400"/>
              </a:spcAft>
            </a:pPr>
            <a:r>
              <a:rPr b="1" sz="919">
                <a:solidFill>
                  <a:srgbClr val="0F172A"/>
                </a:solidFill>
              </a:rPr>
              <a:t>• Survey of India &amp; MoHUA: </a:t>
            </a:r>
            <a:r>
              <a:rPr sz="880">
                <a:solidFill>
                  <a:srgbClr val="475569"/>
                </a:solidFill>
              </a:rPr>
              <a:t>National Geospatial Policy 2022 &amp; National Urban Digital Mission (NUDM) Smart City guidelines.</a:t>
            </a:r>
          </a:p>
          <a:p>
            <a:pPr>
              <a:spcAft>
                <a:spcPts val="400"/>
              </a:spcAft>
            </a:pPr>
            <a:r>
              <a:rPr b="1" sz="919">
                <a:solidFill>
                  <a:srgbClr val="0F172A"/>
                </a:solidFill>
              </a:rPr>
              <a:t>• Academic Research: </a:t>
            </a:r>
            <a:r>
              <a:rPr sz="880">
                <a:solidFill>
                  <a:srgbClr val="475569"/>
                </a:solidFill>
              </a:rPr>
              <a:t>Biljecki et al. (2015): 'Applications of 3D City Models: State of the Art Review' (ISPRS IJGI); Stoter et al. (2020): '3D Cadastre in Operational Practice'.</a:t>
            </a:r>
          </a:p>
          <a:p>
            <a:pPr>
              <a:spcAft>
                <a:spcPts val="400"/>
              </a:spcAft>
            </a:pPr>
            <a:r>
              <a:rPr b="1" sz="919">
                <a:solidFill>
                  <a:srgbClr val="0F172A"/>
                </a:solidFill>
              </a:rPr>
              <a:t>• Authoritative Data Provenance: </a:t>
            </a:r>
            <a:r>
              <a:rPr sz="880">
                <a:solidFill>
                  <a:srgbClr val="475569"/>
                </a:solidFill>
              </a:rPr>
              <a:t>Copernicus GLO-30 DSM (AWS), SRTM GL1 DEM (OpenTopography), ISRO Bhuvan OGC Geoportal WFS/WMS Services, OpenStreetMap (ODbL), TS-RERA Portal.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086600" y="1234440"/>
            <a:ext cx="4572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Working Prototype &amp; Open Source Repository</a:t>
            </a:r>
          </a:p>
          <a:p>
            <a:r>
              <a:rPr sz="900" b="1">
                <a:solidFill>
                  <a:srgbClr val="0F172A"/>
                </a:solidFill>
                <a:latin typeface="Arial"/>
              </a:rPr>
              <a:t>• GitHub: github.com/Imad-81/SIH-26011
• Interactive 3D Viewer: localhost:3000 (Next.js 16 + Three.js)
• Master CLI: python scripts/pipeline.py --city hyderabad</a:t>
            </a:r>
          </a:p>
        </p:txBody>
      </p:sp>
      <p:pic>
        <p:nvPicPr>
          <p:cNvPr id="17412" name="Picture 17411" descr="prototype_3d_vie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240280"/>
            <a:ext cx="457200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