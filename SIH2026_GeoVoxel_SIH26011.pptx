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1E293B"/>
                </a:solidFill>
                <a:latin typeface="Arial"/>
              </a:rPr>
              <a:t>Problem Statement ID – </a:t>
            </a:r>
            <a:r>
              <a:rPr sz="1700" b="1" i="0">
                <a:solidFill>
                  <a:srgbClr val="0284C7"/>
                </a:solidFill>
                <a:latin typeface="Arial"/>
              </a:rPr>
              <a:t>SIH26011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1E293B"/>
                </a:solidFill>
                <a:latin typeface="Arial"/>
              </a:rPr>
              <a:t>Problem Statement Title – </a:t>
            </a:r>
            <a:r>
              <a:rPr sz="1700" b="1" i="0">
                <a:solidFill>
                  <a:srgbClr val="0F172A"/>
                </a:solidFill>
                <a:latin typeface="Arial"/>
              </a:rPr>
              <a:t>3D ULPIN (Bhu-Aadhaar) Generation, Vertical Cadastre &amp; 3D Building Visualization Digital Twin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1E293B"/>
                </a:solidFill>
                <a:latin typeface="Arial"/>
              </a:rPr>
              <a:t>Theme – </a:t>
            </a:r>
            <a:r>
              <a:rPr sz="1700" b="0" i="0">
                <a:solidFill>
                  <a:srgbClr val="1E293B"/>
                </a:solidFill>
                <a:latin typeface="Arial"/>
              </a:rPr>
              <a:t>Smart Automation / Geospatial Technology / Smart Cities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1E293B"/>
                </a:solidFill>
                <a:latin typeface="Arial"/>
              </a:rPr>
              <a:t>PS Category – </a:t>
            </a:r>
            <a:r>
              <a:rPr sz="1700" b="0" i="0">
                <a:solidFill>
                  <a:srgbClr val="1E293B"/>
                </a:solidFill>
                <a:latin typeface="Arial"/>
              </a:rPr>
              <a:t>Software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1E293B"/>
                </a:solidFill>
                <a:latin typeface="Arial"/>
              </a:rPr>
              <a:t>Team Name (Registered on portal) – </a:t>
            </a:r>
            <a:r>
              <a:rPr sz="1700" b="1" i="0">
                <a:solidFill>
                  <a:srgbClr val="4F46E5"/>
                </a:solidFill>
                <a:latin typeface="Arial"/>
              </a:rPr>
              <a:t>GeoVoxel The coders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65960" y="164592"/>
            <a:ext cx="7406640" cy="868680"/>
          </a:xfrm>
        </p:spPr>
        <p:txBody>
          <a:bodyPr anchor="ctr"/>
          <a:lstStyle/>
          <a:p>
            <a:pPr eaLnBrk="1" hangingPunct="1" algn="l"/>
            <a:r>
              <a:rPr sz="2100" b="1" i="0">
                <a:solidFill>
                  <a:srgbClr val="0F172A"/>
                </a:solidFill>
                <a:latin typeface="Arial"/>
              </a:rPr>
              <a:t>GEO-CADASTRE 3D: Autonomous 3D ULPIN &amp; Vertical Cadastre Digital Twin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411480" y="182880"/>
            <a:ext cx="1417320" cy="777240"/>
          </a:xfrm>
          <a:prstGeom prst="ellipse">
            <a:avLst/>
          </a:prstGeom>
          <a:solidFill>
            <a:srgbClr val="312E81"/>
          </a:solidFill>
          <a:ln w="19050">
            <a:solidFill>
              <a:srgbClr val="6366F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GeoVoxel</a:t>
            </a:r>
            <a:endParaRPr lang="en-IN" dirty="0"/>
          </a:p>
          <a:p>
            <a:pPr algn="ctr"/>
            <a:r>
              <a:rPr sz="850" b="0" i="0">
                <a:solidFill>
                  <a:srgbClr val="A5B4FC"/>
                </a:solidFill>
                <a:latin typeface="Arial"/>
              </a:rPr>
              <a:t>The coders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502920" y="1188720"/>
            <a:ext cx="621792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82880" tIns="146304" bIns="91440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284C7"/>
                </a:solidFill>
                <a:latin typeface="Arial"/>
              </a:rPr>
              <a:t>Proposed Solution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1E293B"/>
                </a:solidFill>
                <a:latin typeface="Arial"/>
              </a:rPr>
              <a:t>  Autonomous geospatial pipeline generating India's first 3D vertical cadastre from open-source satellite and survey data.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1E293B"/>
                </a:solidFill>
                <a:latin typeface="Arial"/>
              </a:rPr>
              <a:t>  60 FPS WebGL digital twin with real-time building inspection, floor isolation, and solar analysis.</a:t>
            </a:r>
          </a:p>
          <a:p>
            <a:pPr>
              <a:spcBef>
                <a:spcPts val="700"/>
              </a:spcBef>
              <a:spcAft>
                <a:spcPts val="300"/>
              </a:spcAft>
            </a:pPr>
            <a:r>
              <a:rPr sz="1150" b="1" i="0">
                <a:solidFill>
                  <a:srgbClr val="4F46E5"/>
                </a:solidFill>
                <a:latin typeface="Arial"/>
              </a:rPr>
              <a:t>Technical Approach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1E293B"/>
                </a:solidFill>
                <a:latin typeface="Arial"/>
              </a:rPr>
              <a:t>  Tier 1 — Unit-Level: Parses RERA blueprints into individual flat parcels with carpet area, facing, and Z-coordinates.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1E293B"/>
                </a:solidFill>
                <a:latin typeface="Arial"/>
              </a:rPr>
              <a:t>  Tier 2 — Floor-Level: Automated slicing via DSM-DEM height estimation with zero-discrepancy normalization.</a:t>
            </a:r>
          </a:p>
          <a:p>
            <a:pPr>
              <a:spcBef>
                <a:spcPts val="700"/>
              </a:spcBef>
              <a:spcAft>
                <a:spcPts val="300"/>
              </a:spcAft>
            </a:pPr>
            <a:r>
              <a:rPr sz="1150" b="1" i="0">
                <a:solidFill>
                  <a:srgbClr val="059669"/>
                </a:solidFill>
                <a:latin typeface="Arial"/>
              </a:rPr>
              <a:t>Problem Addressed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1E293B"/>
                </a:solidFill>
                <a:latin typeface="Arial"/>
              </a:rPr>
              <a:t>  Replaces ambiguous 2D survey numbers with unique 3D spatial identities for every apartment unit.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1E293B"/>
                </a:solidFill>
                <a:latin typeface="Arial"/>
              </a:rPr>
              <a:t>  ISO 19152 LADM + OGC CityGML compliant legal 3D parcels (Z-min, Z-max MSL).</a:t>
            </a:r>
          </a:p>
          <a:p>
            <a:pPr>
              <a:spcBef>
                <a:spcPts val="700"/>
              </a:spcBef>
              <a:spcAft>
                <a:spcPts val="300"/>
              </a:spcAft>
            </a:pPr>
            <a:r>
              <a:rPr sz="1150" b="1" i="0">
                <a:solidFill>
                  <a:srgbClr val="E11D48"/>
                </a:solidFill>
                <a:latin typeface="Arial"/>
              </a:rPr>
              <a:t>Innovation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1E293B"/>
                </a:solidFill>
                <a:latin typeface="Arial"/>
              </a:rPr>
              <a:t>  Zero-Discrepancy Floor Slab Engine: cumulative height error = 0.00m across 4,641 buildings.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1E293B"/>
                </a:solidFill>
                <a:latin typeface="Arial"/>
              </a:rPr>
              <a:t>  Client-side 60 FPS rendering of 22,761 volumetric parcels — no server GPU required.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6949440" y="1188720"/>
            <a:ext cx="4709160" cy="1143000"/>
          </a:xfrm>
          <a:prstGeom prst="roundRect">
            <a:avLst/>
          </a:prstGeom>
          <a:solidFill>
            <a:srgbClr val="082F49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950" b="1" i="0">
                <a:solidFill>
                  <a:srgbClr val="38BDF8"/>
                </a:solidFill>
                <a:latin typeface="Arial"/>
              </a:rPr>
              <a:t>GOVERNMENT 2D BHU-AADHAAR (ULPIN)</a:t>
            </a:r>
          </a:p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3621050103VUWK</a:t>
            </a:r>
            <a:r>
              <a:rPr sz="900" b="0" i="0">
                <a:solidFill>
                  <a:srgbClr val="94A3B8"/>
                </a:solidFill>
                <a:latin typeface="Arial"/>
              </a:rPr>
              <a:t>  14-Digit DoLR Standard</a:t>
            </a:r>
          </a:p>
          <a:p>
            <a:pPr algn="ctr"/>
            <a:r>
              <a:rPr sz="780" b="0" i="0">
                <a:solidFill>
                  <a:srgbClr val="94A3B8"/>
                </a:solidFill>
                <a:latin typeface="Arial"/>
              </a:rPr>
              <a:t>State 36 | District 21 | Mandal 05 | Village 0103 | Survey 83/1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6949440" y="2487168"/>
            <a:ext cx="2286000" cy="3456432"/>
          </a:xfrm>
          <a:prstGeom prst="round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91440"/>
          <a:lstStyle/>
          <a:p>
            <a:pPr algn="ctr"/>
            <a:r>
              <a:rPr sz="950" b="1" i="0">
                <a:solidFill>
                  <a:srgbClr val="34D399"/>
                </a:solidFill>
                <a:latin typeface="Arial"/>
              </a:rPr>
              <a:t>TIER 1: UNIT 3D ULPIN</a:t>
            </a:r>
          </a:p>
          <a:p>
            <a:pPr algn="ctr">
              <a:spcAft>
                <a:spcPts val="400"/>
              </a:spcAft>
            </a:pPr>
            <a:r>
              <a:rPr sz="750" b="0" i="0">
                <a:solidFill>
                  <a:srgbClr val="6EE7B7"/>
                </a:solidFill>
                <a:latin typeface="Arial"/>
              </a:rPr>
              <a:t>Sanctioned RERA Blueprints</a:t>
            </a:r>
          </a:p>
          <a:p>
            <a:pPr>
              <a:spcBef>
                <a:spcPts val="400"/>
              </a:spcBef>
            </a:pPr>
            <a:r>
              <a:rPr sz="780" b="1" i="0">
                <a:solidFill>
                  <a:srgbClr val="FFFFFF"/>
                </a:solidFill>
                <a:latin typeface="Arial"/>
              </a:rPr>
              <a:t>-FL32-U3201</a:t>
            </a:r>
          </a:p>
          <a:p>
            <a:r>
              <a:rPr sz="700" b="0" i="0">
                <a:solidFill>
                  <a:srgbClr val="6EE7B7"/>
                </a:solidFill>
                <a:latin typeface="Arial"/>
              </a:rPr>
              <a:t>  4BHK Luxury | 318 m² | East</a:t>
            </a:r>
          </a:p>
          <a:p>
            <a:pPr>
              <a:spcBef>
                <a:spcPts val="400"/>
              </a:spcBef>
            </a:pPr>
            <a:r>
              <a:rPr sz="780" b="1" i="0">
                <a:solidFill>
                  <a:srgbClr val="FFFFFF"/>
                </a:solidFill>
                <a:latin typeface="Arial"/>
              </a:rPr>
              <a:t>-FL32-U3202</a:t>
            </a:r>
          </a:p>
          <a:p>
            <a:r>
              <a:rPr sz="700" b="0" i="0">
                <a:solidFill>
                  <a:srgbClr val="6EE7B7"/>
                </a:solidFill>
                <a:latin typeface="Arial"/>
              </a:rPr>
              <a:t>  3BHK Premium | 241 m² | West</a:t>
            </a:r>
          </a:p>
          <a:p>
            <a:pPr>
              <a:spcBef>
                <a:spcPts val="400"/>
              </a:spcBef>
            </a:pPr>
            <a:r>
              <a:rPr sz="780" b="1" i="0">
                <a:solidFill>
                  <a:srgbClr val="FFFFFF"/>
                </a:solidFill>
                <a:latin typeface="Arial"/>
              </a:rPr>
              <a:t>-FL32-U3203</a:t>
            </a:r>
          </a:p>
          <a:p>
            <a:r>
              <a:rPr sz="700" b="0" i="0">
                <a:solidFill>
                  <a:srgbClr val="6EE7B7"/>
                </a:solidFill>
                <a:latin typeface="Arial"/>
              </a:rPr>
              <a:t>  3BHK Premium | 241 m² | North</a:t>
            </a:r>
          </a:p>
          <a:p>
            <a:pPr>
              <a:spcBef>
                <a:spcPts val="400"/>
              </a:spcBef>
            </a:pPr>
            <a:r>
              <a:rPr sz="780" b="1" i="0">
                <a:solidFill>
                  <a:srgbClr val="FFFFFF"/>
                </a:solidFill>
                <a:latin typeface="Arial"/>
              </a:rPr>
              <a:t>-FL32-ULOBBY</a:t>
            </a:r>
          </a:p>
          <a:p>
            <a:r>
              <a:rPr sz="700" b="0" i="0">
                <a:solidFill>
                  <a:srgbClr val="6EE7B7"/>
                </a:solidFill>
                <a:latin typeface="Arial"/>
              </a:rPr>
              <a:t>  Common Area | Lift &amp; Fire | 85 m²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9372600" y="2487168"/>
            <a:ext cx="2286000" cy="3456432"/>
          </a:xfrm>
          <a:prstGeom prst="roundRect">
            <a:avLst/>
          </a:prstGeom>
          <a:solidFill>
            <a:srgbClr val="1E1B4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91440"/>
          <a:lstStyle/>
          <a:p>
            <a:pPr algn="ctr"/>
            <a:r>
              <a:rPr sz="950" b="1" i="0">
                <a:solidFill>
                  <a:srgbClr val="818CF8"/>
                </a:solidFill>
                <a:latin typeface="Arial"/>
              </a:rPr>
              <a:t>TIER 2: FLOOR 3D ULPIN</a:t>
            </a:r>
          </a:p>
          <a:p>
            <a:pPr algn="ctr">
              <a:spcAft>
                <a:spcPts val="400"/>
              </a:spcAft>
            </a:pPr>
            <a:r>
              <a:rPr sz="750" b="0" i="0">
                <a:solidFill>
                  <a:srgbClr val="A5B4FC"/>
                </a:solidFill>
                <a:latin typeface="Arial"/>
              </a:rPr>
              <a:t>Automated Height Slicing</a:t>
            </a:r>
          </a:p>
          <a:p>
            <a:pPr>
              <a:spcBef>
                <a:spcPts val="400"/>
              </a:spcBef>
            </a:pPr>
            <a:r>
              <a:rPr sz="780" b="1" i="0">
                <a:solidFill>
                  <a:srgbClr val="FFFFFF"/>
                </a:solidFill>
                <a:latin typeface="Arial"/>
              </a:rPr>
              <a:t>-FL32</a:t>
            </a:r>
          </a:p>
          <a:p>
            <a:r>
              <a:rPr sz="700" b="0" i="0">
                <a:solidFill>
                  <a:srgbClr val="A5B4FC"/>
                </a:solidFill>
                <a:latin typeface="Arial"/>
              </a:rPr>
              <a:t>  Floor 32 | Z: 691.01 – 694.00m MSL</a:t>
            </a:r>
          </a:p>
          <a:p>
            <a:pPr>
              <a:spcBef>
                <a:spcPts val="400"/>
              </a:spcBef>
            </a:pPr>
            <a:r>
              <a:rPr sz="780" b="1" i="0">
                <a:solidFill>
                  <a:srgbClr val="FFFFFF"/>
                </a:solidFill>
                <a:latin typeface="Arial"/>
              </a:rPr>
              <a:t>-FL15</a:t>
            </a:r>
          </a:p>
          <a:p>
            <a:r>
              <a:rPr sz="700" b="0" i="0">
                <a:solidFill>
                  <a:srgbClr val="A5B4FC"/>
                </a:solidFill>
                <a:latin typeface="Arial"/>
              </a:rPr>
              <a:t>  Floor 15 | Z: 639.75 – 642.75m MSL</a:t>
            </a:r>
          </a:p>
          <a:p>
            <a:pPr>
              <a:spcBef>
                <a:spcPts val="400"/>
              </a:spcBef>
            </a:pPr>
            <a:r>
              <a:rPr sz="780" b="1" i="0">
                <a:solidFill>
                  <a:srgbClr val="FFFFFF"/>
                </a:solidFill>
                <a:latin typeface="Arial"/>
              </a:rPr>
              <a:t>-FL08</a:t>
            </a:r>
          </a:p>
          <a:p>
            <a:r>
              <a:rPr sz="700" b="0" i="0">
                <a:solidFill>
                  <a:srgbClr val="A5B4FC"/>
                </a:solidFill>
                <a:latin typeface="Arial"/>
              </a:rPr>
              <a:t>  Floor 8 | Z: 618.34 – 621.34m MSL</a:t>
            </a:r>
          </a:p>
          <a:p>
            <a:pPr>
              <a:spcBef>
                <a:spcPts val="400"/>
              </a:spcBef>
            </a:pPr>
            <a:r>
              <a:rPr sz="780" b="1" i="0">
                <a:solidFill>
                  <a:srgbClr val="FFFFFF"/>
                </a:solidFill>
                <a:latin typeface="Arial"/>
              </a:rPr>
              <a:t>-FL00</a:t>
            </a:r>
          </a:p>
          <a:p>
            <a:r>
              <a:rPr sz="700" b="0" i="0">
                <a:solidFill>
                  <a:srgbClr val="A5B4FC"/>
                </a:solidFill>
                <a:latin typeface="Arial"/>
              </a:rPr>
              <a:t>  Ground | Z: 594.00 – 598.34m MSL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65960" y="164592"/>
            <a:ext cx="7406640" cy="868680"/>
          </a:xfrm>
        </p:spPr>
        <p:txBody>
          <a:bodyPr anchor="ctr"/>
          <a:lstStyle/>
          <a:p>
            <a:pPr eaLnBrk="1" hangingPunct="1" algn="l"/>
            <a:r>
              <a:rPr sz="2100" b="1" i="0">
                <a:solidFill>
                  <a:srgbClr val="0F172A"/>
                </a:solidFill>
                <a:latin typeface="Arial"/>
              </a:rPr>
              <a:t>TECHNICAL APPROACH &amp; PIPELINE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411480" y="182880"/>
            <a:ext cx="1417320" cy="777240"/>
          </a:xfrm>
          <a:prstGeom prst="ellipse">
            <a:avLst/>
          </a:prstGeom>
          <a:solidFill>
            <a:srgbClr val="312E81"/>
          </a:solidFill>
          <a:ln w="19050">
            <a:solidFill>
              <a:srgbClr val="6366F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GeoVoxel</a:t>
            </a:r>
            <a:endParaRPr lang="en-IN" dirty="0"/>
          </a:p>
          <a:p>
            <a:pPr algn="ctr"/>
            <a:r>
              <a:rPr sz="850" b="0" i="0">
                <a:solidFill>
                  <a:srgbClr val="A5B4FC"/>
                </a:solidFill>
                <a:latin typeface="Arial"/>
              </a:rPr>
              <a:t>The coders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02920" y="1143000"/>
            <a:ext cx="2697480" cy="2148840"/>
          </a:xfrm>
          <a:prstGeom prst="roundRect">
            <a:avLst/>
          </a:prstGeom>
          <a:solidFill>
            <a:srgbClr val="082F49"/>
          </a:solidFill>
          <a:ln w="2286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557784" y="1197864"/>
            <a:ext cx="2587752" cy="38404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STAGE 1: DATA INGESTION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76072" y="1636776"/>
            <a:ext cx="2551176" cy="16002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300"/>
              </a:spcAft>
            </a:pPr>
            <a:r>
              <a:rPr sz="850" b="0" i="0">
                <a:solidFill>
                  <a:srgbClr val="E2E8F0"/>
                </a:solidFill>
                <a:latin typeface="Arial"/>
              </a:rPr>
              <a:t>OpenStreetMap (Overpass QL)</a:t>
            </a:r>
          </a:p>
          <a:p>
            <a:pPr>
              <a:spcAft>
                <a:spcPts val="300"/>
              </a:spcAft>
            </a:pPr>
            <a:r>
              <a:rPr sz="850" b="0" i="0">
                <a:solidFill>
                  <a:srgbClr val="E2E8F0"/>
                </a:solidFill>
                <a:latin typeface="Arial"/>
              </a:rPr>
              <a:t>Copernicus GLO-30 DSM</a:t>
            </a:r>
          </a:p>
          <a:p>
            <a:pPr>
              <a:spcAft>
                <a:spcPts val="300"/>
              </a:spcAft>
            </a:pPr>
            <a:r>
              <a:rPr sz="850" b="0" i="0">
                <a:solidFill>
                  <a:srgbClr val="E2E8F0"/>
                </a:solidFill>
                <a:latin typeface="Arial"/>
              </a:rPr>
              <a:t>SRTM GL1 DEM (OpenTopo)</a:t>
            </a:r>
          </a:p>
          <a:p>
            <a:pPr>
              <a:spcAft>
                <a:spcPts val="300"/>
              </a:spcAft>
            </a:pPr>
            <a:r>
              <a:rPr sz="850" b="0" i="0">
                <a:solidFill>
                  <a:srgbClr val="E2E8F0"/>
                </a:solidFill>
                <a:latin typeface="Arial"/>
              </a:rPr>
              <a:t>ISRO Bhuvan OGC Geoportal</a:t>
            </a:r>
          </a:p>
          <a:p>
            <a:pPr>
              <a:spcAft>
                <a:spcPts val="300"/>
              </a:spcAft>
            </a:pPr>
            <a:r>
              <a:rPr sz="850" b="0" i="0">
                <a:solidFill>
                  <a:srgbClr val="E2E8F0"/>
                </a:solidFill>
                <a:latin typeface="Arial"/>
              </a:rPr>
              <a:t>TS-RERA &amp; Dharani Land DB</a:t>
            </a:r>
          </a:p>
        </p:txBody>
      </p:sp>
      <p:sp>
        <p:nvSpPr>
          <p:cNvPr id="17413" name="Right Arrow 17412"/>
          <p:cNvSpPr/>
          <p:nvPr/>
        </p:nvSpPr>
        <p:spPr>
          <a:xfrm>
            <a:off x="3218688" y="2199132"/>
            <a:ext cx="100584" cy="128016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3337560" y="1143000"/>
            <a:ext cx="2697480" cy="2148840"/>
          </a:xfrm>
          <a:prstGeom prst="roundRect">
            <a:avLst/>
          </a:prstGeom>
          <a:solidFill>
            <a:srgbClr val="1E1B4B"/>
          </a:solidFill>
          <a:ln w="228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3392424" y="1197864"/>
            <a:ext cx="2587752" cy="384048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STAGE 2: HEIGHT ENGINE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410712" y="1636776"/>
            <a:ext cx="2551176" cy="16002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300"/>
              </a:spcAft>
            </a:pPr>
            <a:r>
              <a:rPr sz="850" b="0" i="0">
                <a:solidFill>
                  <a:srgbClr val="E2E8F0"/>
                </a:solidFill>
                <a:latin typeface="Arial"/>
              </a:rPr>
              <a:t>Landmark / RERA Registry</a:t>
            </a:r>
          </a:p>
          <a:p>
            <a:pPr>
              <a:spcAft>
                <a:spcPts val="300"/>
              </a:spcAft>
            </a:pPr>
            <a:r>
              <a:rPr sz="850" b="0" i="0">
                <a:solidFill>
                  <a:srgbClr val="E2E8F0"/>
                </a:solidFill>
                <a:latin typeface="Arial"/>
              </a:rPr>
              <a:t>DSM-DEM Zonal Statistics</a:t>
            </a:r>
          </a:p>
          <a:p>
            <a:pPr>
              <a:spcAft>
                <a:spcPts val="300"/>
              </a:spcAft>
            </a:pPr>
            <a:r>
              <a:rPr sz="850" b="0" i="0">
                <a:solidFill>
                  <a:srgbClr val="E2E8F0"/>
                </a:solidFill>
                <a:latin typeface="Arial"/>
              </a:rPr>
              <a:t>Annular Buffer Sampling</a:t>
            </a:r>
          </a:p>
          <a:p>
            <a:pPr>
              <a:spcAft>
                <a:spcPts val="300"/>
              </a:spcAft>
            </a:pPr>
            <a:r>
              <a:rPr sz="850" b="0" i="0">
                <a:solidFill>
                  <a:srgbClr val="E2E8F0"/>
                </a:solidFill>
                <a:latin typeface="Arial"/>
              </a:rPr>
              <a:t>Morphological Typology</a:t>
            </a:r>
          </a:p>
          <a:p>
            <a:pPr>
              <a:spcAft>
                <a:spcPts val="300"/>
              </a:spcAft>
            </a:pPr>
            <a:r>
              <a:rPr sz="850" b="0" i="0">
                <a:solidFill>
                  <a:srgbClr val="E2E8F0"/>
                </a:solidFill>
                <a:latin typeface="Arial"/>
              </a:rPr>
              <a:t>Cluster Spatial Propagation</a:t>
            </a:r>
          </a:p>
        </p:txBody>
      </p:sp>
      <p:sp>
        <p:nvSpPr>
          <p:cNvPr id="17417" name="Right Arrow 17416"/>
          <p:cNvSpPr/>
          <p:nvPr/>
        </p:nvSpPr>
        <p:spPr>
          <a:xfrm>
            <a:off x="6053328" y="2199132"/>
            <a:ext cx="100584" cy="128016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6172200" y="1143000"/>
            <a:ext cx="2697480" cy="2148840"/>
          </a:xfrm>
          <a:prstGeom prst="roundRect">
            <a:avLst/>
          </a:prstGeom>
          <a:solidFill>
            <a:srgbClr val="064E3B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6227064" y="1197864"/>
            <a:ext cx="2587752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STAGE 3: 3D CADASTRE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245352" y="1636776"/>
            <a:ext cx="2551176" cy="16002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300"/>
              </a:spcAft>
            </a:pPr>
            <a:r>
              <a:rPr sz="850" b="0" i="0">
                <a:solidFill>
                  <a:srgbClr val="E2E8F0"/>
                </a:solidFill>
                <a:latin typeface="Arial"/>
              </a:rPr>
              <a:t>14-Digit Bhu-Aadhaar (NIC)</a:t>
            </a:r>
          </a:p>
          <a:p>
            <a:pPr>
              <a:spcAft>
                <a:spcPts val="300"/>
              </a:spcAft>
            </a:pPr>
            <a:r>
              <a:rPr sz="850" b="0" i="0">
                <a:solidFill>
                  <a:srgbClr val="E2E8F0"/>
                </a:solidFill>
                <a:latin typeface="Arial"/>
              </a:rPr>
              <a:t>Unit ULPIN (-FLxx-Uyyyy)</a:t>
            </a:r>
          </a:p>
          <a:p>
            <a:pPr>
              <a:spcAft>
                <a:spcPts val="300"/>
              </a:spcAft>
            </a:pPr>
            <a:r>
              <a:rPr sz="850" b="0" i="0">
                <a:solidFill>
                  <a:srgbClr val="E2E8F0"/>
                </a:solidFill>
                <a:latin typeface="Arial"/>
              </a:rPr>
              <a:t>Floor ULPIN (-FLxx)</a:t>
            </a:r>
          </a:p>
          <a:p>
            <a:pPr>
              <a:spcAft>
                <a:spcPts val="300"/>
              </a:spcAft>
            </a:pPr>
            <a:r>
              <a:rPr sz="850" b="0" i="0">
                <a:solidFill>
                  <a:srgbClr val="E2E8F0"/>
                </a:solidFill>
                <a:latin typeface="Arial"/>
              </a:rPr>
              <a:t>Zero-Discrepancy Normalizer</a:t>
            </a:r>
          </a:p>
          <a:p>
            <a:pPr>
              <a:spcAft>
                <a:spcPts val="300"/>
              </a:spcAft>
            </a:pPr>
            <a:r>
              <a:rPr sz="850" b="0" i="0">
                <a:solidFill>
                  <a:srgbClr val="E2E8F0"/>
                </a:solidFill>
                <a:latin typeface="Arial"/>
              </a:rPr>
              <a:t>ISO 19152 / CityGML 3.0</a:t>
            </a:r>
          </a:p>
        </p:txBody>
      </p:sp>
      <p:sp>
        <p:nvSpPr>
          <p:cNvPr id="17421" name="Right Arrow 17420"/>
          <p:cNvSpPr/>
          <p:nvPr/>
        </p:nvSpPr>
        <p:spPr>
          <a:xfrm>
            <a:off x="8887968" y="2199132"/>
            <a:ext cx="100584" cy="128016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9006840" y="1143000"/>
            <a:ext cx="2697480" cy="2148840"/>
          </a:xfrm>
          <a:prstGeom prst="roundRect">
            <a:avLst/>
          </a:prstGeom>
          <a:solidFill>
            <a:srgbClr val="451A03"/>
          </a:solidFill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9061704" y="1197864"/>
            <a:ext cx="2587752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STAGE 4: DIGITAL TWIN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9079992" y="1636776"/>
            <a:ext cx="2551176" cy="16002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300"/>
              </a:spcAft>
            </a:pPr>
            <a:r>
              <a:rPr sz="850" b="0" i="0">
                <a:solidFill>
                  <a:srgbClr val="E2E8F0"/>
                </a:solidFill>
                <a:latin typeface="Arial"/>
              </a:rPr>
              <a:t>Next.js 16 + Three.js r185</a:t>
            </a:r>
          </a:p>
          <a:p>
            <a:pPr>
              <a:spcAft>
                <a:spcPts val="300"/>
              </a:spcAft>
            </a:pPr>
            <a:r>
              <a:rPr sz="850" b="0" i="0">
                <a:solidFill>
                  <a:srgbClr val="E2E8F0"/>
                </a:solidFill>
                <a:latin typeface="Arial"/>
              </a:rPr>
              <a:t>60 FPS BatchedMesh / LOD</a:t>
            </a:r>
          </a:p>
          <a:p>
            <a:pPr>
              <a:spcAft>
                <a:spcPts val="300"/>
              </a:spcAft>
            </a:pPr>
            <a:r>
              <a:rPr sz="850" b="0" i="0">
                <a:solidFill>
                  <a:srgbClr val="E2E8F0"/>
                </a:solidFill>
                <a:latin typeface="Arial"/>
              </a:rPr>
              <a:t>Interactive Floor Isolation</a:t>
            </a:r>
          </a:p>
          <a:p>
            <a:pPr>
              <a:spcAft>
                <a:spcPts val="300"/>
              </a:spcAft>
            </a:pPr>
            <a:r>
              <a:rPr sz="850" b="0" i="0">
                <a:solidFill>
                  <a:srgbClr val="E2E8F0"/>
                </a:solidFill>
                <a:latin typeface="Arial"/>
              </a:rPr>
              <a:t>Solar &amp; Flood Simulation</a:t>
            </a:r>
          </a:p>
          <a:p>
            <a:pPr>
              <a:spcAft>
                <a:spcPts val="300"/>
              </a:spcAft>
            </a:pPr>
            <a:r>
              <a:rPr sz="850" b="0" i="0">
                <a:solidFill>
                  <a:srgbClr val="E2E8F0"/>
                </a:solidFill>
                <a:latin typeface="Arial"/>
              </a:rPr>
              <a:t>238 km Road Network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502920" y="3401568"/>
            <a:ext cx="2190902" cy="530352"/>
          </a:xfrm>
          <a:prstGeom prst="roundRect">
            <a:avLst/>
          </a:prstGeom>
          <a:solidFill>
            <a:srgbClr val="082F49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4,641</a:t>
            </a:r>
          </a:p>
          <a:p>
            <a:pPr algn="ctr"/>
            <a:r>
              <a:rPr sz="750" b="0" i="0">
                <a:solidFill>
                  <a:srgbClr val="38BDF8"/>
                </a:solidFill>
                <a:latin typeface="Arial"/>
              </a:rPr>
              <a:t>Buildings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2803550" y="3401568"/>
            <a:ext cx="2190902" cy="530352"/>
          </a:xfrm>
          <a:prstGeom prst="roundRect">
            <a:avLst/>
          </a:prstGeom>
          <a:solidFill>
            <a:srgbClr val="064E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22,761</a:t>
            </a:r>
          </a:p>
          <a:p>
            <a:pPr algn="ctr"/>
            <a:r>
              <a:rPr sz="750" b="0" i="0">
                <a:solidFill>
                  <a:srgbClr val="34D399"/>
                </a:solidFill>
                <a:latin typeface="Arial"/>
              </a:rPr>
              <a:t>3D Parcels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5104180" y="3401568"/>
            <a:ext cx="2190902" cy="530352"/>
          </a:xfrm>
          <a:prstGeom prst="roundRect">
            <a:avLst/>
          </a:prstGeom>
          <a:solidFill>
            <a:srgbClr val="1E1B4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238 km</a:t>
            </a:r>
          </a:p>
          <a:p>
            <a:pPr algn="ctr"/>
            <a:r>
              <a:rPr sz="750" b="0" i="0">
                <a:solidFill>
                  <a:srgbClr val="818CF8"/>
                </a:solidFill>
                <a:latin typeface="Arial"/>
              </a:rPr>
              <a:t>Roads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7404811" y="3401568"/>
            <a:ext cx="2190902" cy="530352"/>
          </a:xfrm>
          <a:prstGeom prst="roundRect">
            <a:avLst/>
          </a:prstGeom>
          <a:solidFill>
            <a:srgbClr val="451A03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12.5s</a:t>
            </a:r>
          </a:p>
          <a:p>
            <a:pPr algn="ctr"/>
            <a:r>
              <a:rPr sz="750" b="0" i="0">
                <a:solidFill>
                  <a:srgbClr val="FBBF24"/>
                </a:solidFill>
                <a:latin typeface="Arial"/>
              </a:rPr>
              <a:t>Execution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9705441" y="3401568"/>
            <a:ext cx="2190902" cy="530352"/>
          </a:xfrm>
          <a:prstGeom prst="roundRect">
            <a:avLst/>
          </a:prstGeom>
          <a:solidFill>
            <a:srgbClr val="2E106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60 FPS</a:t>
            </a:r>
          </a:p>
          <a:p>
            <a:pPr algn="ctr"/>
            <a:r>
              <a:rPr sz="750" b="0" i="0">
                <a:solidFill>
                  <a:srgbClr val="8B5CF6"/>
                </a:solidFill>
                <a:latin typeface="Arial"/>
              </a:rPr>
              <a:t>Rendering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502920" y="4041648"/>
            <a:ext cx="5577840" cy="19019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91440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0284C7"/>
                </a:solidFill>
                <a:latin typeface="Arial"/>
              </a:rPr>
              <a:t>Technologies &amp; Frameworks</a:t>
            </a:r>
          </a:p>
          <a:p>
            <a:pPr>
              <a:spcAft>
                <a:spcPts val="250"/>
              </a:spcAft>
            </a:pPr>
            <a:r>
              <a:rPr sz="900" b="1" i="0">
                <a:solidFill>
                  <a:srgbClr val="0F172A"/>
                </a:solidFill>
                <a:latin typeface="Arial"/>
              </a:rPr>
              <a:t>Geospatial: </a:t>
            </a:r>
            <a:r>
              <a:rPr sz="850" b="0" i="0">
                <a:solidFill>
                  <a:srgbClr val="475569"/>
                </a:solidFill>
                <a:latin typeface="Arial"/>
              </a:rPr>
              <a:t>Python 3.10+, GDAL, Rasterio, Shapely, GeoPandas, PyProj, SciPy k-d trees.</a:t>
            </a:r>
          </a:p>
          <a:p>
            <a:pPr>
              <a:spcAft>
                <a:spcPts val="250"/>
              </a:spcAft>
            </a:pPr>
            <a:r>
              <a:rPr sz="900" b="1" i="0">
                <a:solidFill>
                  <a:srgbClr val="0F172A"/>
                </a:solidFill>
                <a:latin typeface="Arial"/>
              </a:rPr>
              <a:t>Remote Sensing: </a:t>
            </a:r>
            <a:r>
              <a:rPr sz="850" b="0" i="0">
                <a:solidFill>
                  <a:srgbClr val="475569"/>
                </a:solidFill>
                <a:latin typeface="Arial"/>
              </a:rPr>
              <a:t>Copernicus GLO-30 DSM, SRTM GL1 DEM, ISRO Bhuvan WFS/WMS, OSM Overpass QL.</a:t>
            </a:r>
          </a:p>
          <a:p>
            <a:pPr>
              <a:spcAft>
                <a:spcPts val="250"/>
              </a:spcAft>
            </a:pPr>
            <a:r>
              <a:rPr sz="900" b="1" i="0">
                <a:solidFill>
                  <a:srgbClr val="0F172A"/>
                </a:solidFill>
                <a:latin typeface="Arial"/>
              </a:rPr>
              <a:t>3D Platform: </a:t>
            </a:r>
            <a:r>
              <a:rPr sz="850" b="0" i="0">
                <a:solidFill>
                  <a:srgbClr val="475569"/>
                </a:solidFill>
                <a:latin typeface="Arial"/>
              </a:rPr>
              <a:t>Next.js 16 (Turbopack), React 19, Three.js r185, React Three Fiber, WebGL 2.0.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263640" y="4041648"/>
            <a:ext cx="5632704" cy="19019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91440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059669"/>
                </a:solidFill>
                <a:latin typeface="Arial"/>
              </a:rPr>
              <a:t>Methodology &amp; Implementation</a:t>
            </a:r>
          </a:p>
          <a:p>
            <a:pPr>
              <a:spcAft>
                <a:spcPts val="200"/>
              </a:spcAft>
            </a:pPr>
            <a:r>
              <a:rPr sz="900" b="1" i="0">
                <a:solidFill>
                  <a:srgbClr val="0F172A"/>
                </a:solidFill>
                <a:latin typeface="Arial"/>
              </a:rPr>
              <a:t>1. Ingestion: </a:t>
            </a:r>
            <a:r>
              <a:rPr sz="850" b="0" i="0">
                <a:solidFill>
                  <a:srgbClr val="475569"/>
                </a:solidFill>
                <a:latin typeface="Arial"/>
              </a:rPr>
              <a:t>Bounding box clipping, UTM reprojection, OSM vector extraction, Bhuvan validation.</a:t>
            </a:r>
          </a:p>
          <a:p>
            <a:pPr>
              <a:spcAft>
                <a:spcPts val="200"/>
              </a:spcAft>
            </a:pPr>
            <a:r>
              <a:rPr sz="900" b="1" i="0">
                <a:solidFill>
                  <a:srgbClr val="0F172A"/>
                </a:solidFill>
                <a:latin typeface="Arial"/>
              </a:rPr>
              <a:t>2. Height: </a:t>
            </a:r>
            <a:r>
              <a:rPr sz="850" b="0" i="0">
                <a:solidFill>
                  <a:srgbClr val="475569"/>
                </a:solidFill>
                <a:latin typeface="Arial"/>
              </a:rPr>
              <a:t>DSM-DEM zonal diff + annular buffer terrain sampling + typology heuristics.</a:t>
            </a:r>
          </a:p>
          <a:p>
            <a:pPr>
              <a:spcAft>
                <a:spcPts val="200"/>
              </a:spcAft>
            </a:pPr>
            <a:r>
              <a:rPr sz="900" b="1" i="0">
                <a:solidFill>
                  <a:srgbClr val="0F172A"/>
                </a:solidFill>
                <a:latin typeface="Arial"/>
              </a:rPr>
              <a:t>3. Cadastre: </a:t>
            </a:r>
            <a:r>
              <a:rPr sz="850" b="0" i="0">
                <a:solidFill>
                  <a:srgbClr val="475569"/>
                </a:solidFill>
                <a:latin typeface="Arial"/>
              </a:rPr>
              <a:t>14-digit ULPIN, zero-discrepancy floor normalization, dual-tier volumetric parcels.</a:t>
            </a:r>
          </a:p>
          <a:p>
            <a:pPr>
              <a:spcAft>
                <a:spcPts val="200"/>
              </a:spcAft>
            </a:pPr>
            <a:r>
              <a:rPr sz="900" b="1" i="0">
                <a:solidFill>
                  <a:srgbClr val="0F172A"/>
                </a:solidFill>
                <a:latin typeface="Arial"/>
              </a:rPr>
              <a:t>4. Digital Twin: </a:t>
            </a:r>
            <a:r>
              <a:rPr sz="850" b="0" i="0">
                <a:solidFill>
                  <a:srgbClr val="475569"/>
                </a:solidFill>
                <a:latin typeface="Arial"/>
              </a:rPr>
              <a:t>Instanced rendering of 4,641 buildings + 238 km roads; interactive inspection.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65960" y="164592"/>
            <a:ext cx="7406640" cy="868680"/>
          </a:xfrm>
        </p:spPr>
        <p:txBody>
          <a:bodyPr anchor="ctr"/>
          <a:lstStyle/>
          <a:p>
            <a:pPr eaLnBrk="1" hangingPunct="1" algn="l"/>
            <a:r>
              <a:rPr sz="2100" b="1" i="0">
                <a:solidFill>
                  <a:srgbClr val="0F172A"/>
                </a:solidFill>
                <a:latin typeface="Arial"/>
              </a:rPr>
              <a:t>FEASIBILITY AND VIABILITY ANALYSIS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411480" y="182880"/>
            <a:ext cx="1417320" cy="777240"/>
          </a:xfrm>
          <a:prstGeom prst="ellipse">
            <a:avLst/>
          </a:prstGeom>
          <a:solidFill>
            <a:srgbClr val="312E81"/>
          </a:solidFill>
          <a:ln w="19050">
            <a:solidFill>
              <a:srgbClr val="6366F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GeoVoxel</a:t>
            </a:r>
            <a:endParaRPr lang="en-IN" dirty="0"/>
          </a:p>
          <a:p>
            <a:pPr algn="ctr"/>
            <a:r>
              <a:rPr sz="850" b="0" i="0">
                <a:solidFill>
                  <a:srgbClr val="A5B4FC"/>
                </a:solidFill>
                <a:latin typeface="Arial"/>
              </a:rPr>
              <a:t>The coders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02920" y="1188720"/>
            <a:ext cx="361188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 bIns="91440"/>
          <a:lstStyle/>
          <a:p>
            <a:pPr algn="ctr">
              <a:spcAft>
                <a:spcPts val="1000"/>
              </a:spcAft>
            </a:pPr>
            <a:r>
              <a:rPr sz="1250" b="1" i="0">
                <a:solidFill>
                  <a:srgbClr val="0284C7"/>
                </a:solidFill>
                <a:latin typeface="Arial"/>
              </a:rPr>
              <a:t>Feasibility Analysis</a:t>
            </a:r>
          </a:p>
          <a:p>
            <a:pPr>
              <a:spcAft>
                <a:spcPts val="800"/>
              </a:spcAft>
            </a:pPr>
            <a:r>
              <a:rPr sz="950" b="1" i="0">
                <a:solidFill>
                  <a:srgbClr val="0284C7"/>
                </a:solidFill>
                <a:latin typeface="Arial"/>
              </a:rPr>
              <a:t>Data: </a:t>
            </a:r>
            <a:r>
              <a:rPr sz="900" b="0" i="0">
                <a:solidFill>
                  <a:srgbClr val="475569"/>
                </a:solidFill>
                <a:latin typeface="Arial"/>
              </a:rPr>
              <a:t>100% open sovereign data — Copernicus DEM, SRTM, ISRO Bhuvan, OSM. Zero licensing fees.</a:t>
            </a:r>
          </a:p>
          <a:p>
            <a:pPr>
              <a:spcAft>
                <a:spcPts val="800"/>
              </a:spcAft>
            </a:pPr>
            <a:r>
              <a:rPr sz="950" b="1" i="0">
                <a:solidFill>
                  <a:srgbClr val="0284C7"/>
                </a:solidFill>
                <a:latin typeface="Arial"/>
              </a:rPr>
              <a:t>Operations: </a:t>
            </a:r>
            <a:r>
              <a:rPr sz="900" b="0" i="0">
                <a:solidFill>
                  <a:srgbClr val="475569"/>
                </a:solidFill>
                <a:latin typeface="Arial"/>
              </a:rPr>
              <a:t>Entire 9 km² urban sector processed in 12.5 seconds on commodity hardware.</a:t>
            </a:r>
          </a:p>
          <a:p>
            <a:pPr>
              <a:spcAft>
                <a:spcPts val="800"/>
              </a:spcAft>
            </a:pPr>
            <a:r>
              <a:rPr sz="950" b="1" i="0">
                <a:solidFill>
                  <a:srgbClr val="0284C7"/>
                </a:solidFill>
                <a:latin typeface="Arial"/>
              </a:rPr>
              <a:t>Technical: </a:t>
            </a:r>
            <a:r>
              <a:rPr sz="900" b="0" i="0">
                <a:solidFill>
                  <a:srgbClr val="475569"/>
                </a:solidFill>
                <a:latin typeface="Arial"/>
              </a:rPr>
              <a:t>Built on ISO 19152 LADM, OGC CityGML, 14-digit DoLR ULPIN standards.</a:t>
            </a:r>
          </a:p>
          <a:p>
            <a:pPr>
              <a:spcAft>
                <a:spcPts val="800"/>
              </a:spcAft>
            </a:pPr>
            <a:r>
              <a:rPr sz="950" b="1" i="0">
                <a:solidFill>
                  <a:srgbClr val="0284C7"/>
                </a:solidFill>
                <a:latin typeface="Arial"/>
              </a:rPr>
              <a:t>Deployment: </a:t>
            </a:r>
            <a:r>
              <a:rPr sz="900" b="0" i="0">
                <a:solidFill>
                  <a:srgbClr val="475569"/>
                </a:solidFill>
                <a:latin typeface="Arial"/>
              </a:rPr>
              <a:t>Client-side WebGL at 60 FPS in any browser — no GPUs or native installs.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279392" y="1188720"/>
            <a:ext cx="361188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 bIns="91440"/>
          <a:lstStyle/>
          <a:p>
            <a:pPr algn="ctr">
              <a:spcAft>
                <a:spcPts val="1000"/>
              </a:spcAft>
            </a:pPr>
            <a:r>
              <a:rPr sz="1250" b="1" i="0">
                <a:solidFill>
                  <a:srgbClr val="E11D48"/>
                </a:solidFill>
                <a:latin typeface="Arial"/>
              </a:rPr>
              <a:t>Challenges &amp; Risks</a:t>
            </a:r>
          </a:p>
          <a:p>
            <a:pPr>
              <a:spcAft>
                <a:spcPts val="800"/>
              </a:spcAft>
            </a:pPr>
            <a:r>
              <a:rPr sz="950" b="1" i="0">
                <a:solidFill>
                  <a:srgbClr val="E11D48"/>
                </a:solidFill>
                <a:latin typeface="Arial"/>
              </a:rPr>
              <a:t>Raster Noise: </a:t>
            </a:r>
            <a:r>
              <a:rPr sz="900" b="0" i="0">
                <a:solidFill>
                  <a:srgbClr val="475569"/>
                </a:solidFill>
                <a:latin typeface="Arial"/>
              </a:rPr>
              <a:t>30m DSM/DEM data has height distortion in dense high-rise clusters.</a:t>
            </a:r>
          </a:p>
          <a:p>
            <a:pPr>
              <a:spcAft>
                <a:spcPts val="800"/>
              </a:spcAft>
            </a:pPr>
            <a:r>
              <a:rPr sz="950" b="1" i="0">
                <a:solidFill>
                  <a:srgbClr val="E11D48"/>
                </a:solidFill>
                <a:latin typeface="Arial"/>
              </a:rPr>
              <a:t>Missing Plans: </a:t>
            </a:r>
            <a:r>
              <a:rPr sz="900" b="0" i="0">
                <a:solidFill>
                  <a:srgbClr val="475569"/>
                </a:solidFill>
                <a:latin typeface="Arial"/>
              </a:rPr>
              <a:t>95%+ of municipal buildings lack digitized floor plans for unit mapping.</a:t>
            </a:r>
          </a:p>
          <a:p>
            <a:pPr>
              <a:spcAft>
                <a:spcPts val="800"/>
              </a:spcAft>
            </a:pPr>
            <a:r>
              <a:rPr sz="950" b="1" i="0">
                <a:solidFill>
                  <a:srgbClr val="E11D48"/>
                </a:solidFill>
                <a:latin typeface="Arial"/>
              </a:rPr>
              <a:t>Browser Limits: </a:t>
            </a:r>
            <a:r>
              <a:rPr sz="900" b="0" i="0">
                <a:solidFill>
                  <a:srgbClr val="475569"/>
                </a:solidFill>
                <a:latin typeface="Arial"/>
              </a:rPr>
              <a:t>Simultaneous volumetric rendering can exhaust WebGL memory.</a:t>
            </a:r>
          </a:p>
          <a:p>
            <a:pPr>
              <a:spcAft>
                <a:spcPts val="800"/>
              </a:spcAft>
            </a:pPr>
            <a:r>
              <a:rPr sz="950" b="1" i="0">
                <a:solidFill>
                  <a:srgbClr val="E11D48"/>
                </a:solidFill>
                <a:latin typeface="Arial"/>
              </a:rPr>
              <a:t>Elevation Drift: </a:t>
            </a:r>
            <a:r>
              <a:rPr sz="900" b="0" i="0">
                <a:solidFill>
                  <a:srgbClr val="475569"/>
                </a:solidFill>
                <a:latin typeface="Arial"/>
              </a:rPr>
              <a:t>Rounding errors cause cumulative drift between slices and rooftops.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8055864" y="1188720"/>
            <a:ext cx="361188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 bIns="91440"/>
          <a:lstStyle/>
          <a:p>
            <a:pPr algn="ctr">
              <a:spcAft>
                <a:spcPts val="1000"/>
              </a:spcAft>
            </a:pPr>
            <a:r>
              <a:rPr sz="1250" b="1" i="0">
                <a:solidFill>
                  <a:srgbClr val="059669"/>
                </a:solidFill>
                <a:latin typeface="Arial"/>
              </a:rPr>
              <a:t>Mitigation Strategies</a:t>
            </a:r>
          </a:p>
          <a:p>
            <a:pPr>
              <a:spcAft>
                <a:spcPts val="800"/>
              </a:spcAft>
            </a:pPr>
            <a:r>
              <a:rPr sz="950" b="1" i="0">
                <a:solidFill>
                  <a:srgbClr val="059669"/>
                </a:solidFill>
                <a:latin typeface="Arial"/>
              </a:rPr>
              <a:t>5-Tier Fallback: </a:t>
            </a:r>
            <a:r>
              <a:rPr sz="900" b="0" i="0">
                <a:solidFill>
                  <a:srgbClr val="475569"/>
                </a:solidFill>
                <a:latin typeface="Arial"/>
              </a:rPr>
              <a:t>Annular terrain buffering + morphological typology + landmark registries.</a:t>
            </a:r>
          </a:p>
          <a:p>
            <a:pPr>
              <a:spcAft>
                <a:spcPts val="800"/>
              </a:spcAft>
            </a:pPr>
            <a:r>
              <a:rPr sz="950" b="1" i="0">
                <a:solidFill>
                  <a:srgbClr val="059669"/>
                </a:solidFill>
                <a:latin typeface="Arial"/>
              </a:rPr>
              <a:t>Dual-Mode: </a:t>
            </a:r>
            <a:r>
              <a:rPr sz="900" b="0" i="0">
                <a:solidFill>
                  <a:srgbClr val="475569"/>
                </a:solidFill>
                <a:latin typeface="Arial"/>
              </a:rPr>
              <a:t>Floor-level slicing as default; upgrades to unit-level when blueprints exist.</a:t>
            </a:r>
          </a:p>
          <a:p>
            <a:pPr>
              <a:spcAft>
                <a:spcPts val="800"/>
              </a:spcAft>
            </a:pPr>
            <a:r>
              <a:rPr sz="950" b="1" i="0">
                <a:solidFill>
                  <a:srgbClr val="059669"/>
                </a:solidFill>
                <a:latin typeface="Arial"/>
              </a:rPr>
              <a:t>On-Demand LOD: </a:t>
            </a:r>
            <a:r>
              <a:rPr sz="900" b="0" i="0">
                <a:solidFill>
                  <a:srgbClr val="475569"/>
                </a:solidFill>
                <a:latin typeface="Arial"/>
              </a:rPr>
              <a:t>Only selected building is volumetrically extruded; others stay as batched mesh.</a:t>
            </a:r>
          </a:p>
          <a:p>
            <a:pPr>
              <a:spcAft>
                <a:spcPts val="800"/>
              </a:spcAft>
            </a:pPr>
            <a:r>
              <a:rPr sz="950" b="1" i="0">
                <a:solidFill>
                  <a:srgbClr val="059669"/>
                </a:solidFill>
                <a:latin typeface="Arial"/>
              </a:rPr>
              <a:t>Normalizer: </a:t>
            </a:r>
            <a:r>
              <a:rPr sz="900" b="0" i="0">
                <a:solidFill>
                  <a:srgbClr val="475569"/>
                </a:solidFill>
                <a:latin typeface="Arial"/>
              </a:rPr>
              <a:t>Enforces cumulative height = building height with 0.00m error tolerance.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65960" y="164592"/>
            <a:ext cx="7406640" cy="868680"/>
          </a:xfrm>
        </p:spPr>
        <p:txBody>
          <a:bodyPr anchor="ctr"/>
          <a:lstStyle/>
          <a:p>
            <a:pPr eaLnBrk="1" hangingPunct="1" algn="l"/>
            <a:r>
              <a:rPr sz="2100" b="1" i="0">
                <a:solidFill>
                  <a:srgbClr val="0F172A"/>
                </a:solidFill>
                <a:latin typeface="Arial"/>
              </a:rPr>
              <a:t>IMPACT AND MULTI-SECTOR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411480" y="182880"/>
            <a:ext cx="1417320" cy="777240"/>
          </a:xfrm>
          <a:prstGeom prst="ellipse">
            <a:avLst/>
          </a:prstGeom>
          <a:solidFill>
            <a:srgbClr val="312E81"/>
          </a:solidFill>
          <a:ln w="19050">
            <a:solidFill>
              <a:srgbClr val="6366F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GeoVoxel</a:t>
            </a:r>
            <a:endParaRPr lang="en-IN" dirty="0"/>
          </a:p>
          <a:p>
            <a:pPr algn="ctr"/>
            <a:r>
              <a:rPr sz="850" b="0" i="0">
                <a:solidFill>
                  <a:srgbClr val="A5B4FC"/>
                </a:solidFill>
                <a:latin typeface="Arial"/>
              </a:rPr>
              <a:t>The coders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02920" y="1188720"/>
            <a:ext cx="553212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82880" tIns="164592" bIns="91440"/>
          <a:lstStyle/>
          <a:p>
            <a:pPr algn="ctr">
              <a:spcAft>
                <a:spcPts val="800"/>
              </a:spcAft>
            </a:pPr>
            <a:r>
              <a:rPr sz="1250" b="1" i="0">
                <a:solidFill>
                  <a:srgbClr val="0284C7"/>
                </a:solidFill>
                <a:latin typeface="Arial"/>
              </a:rPr>
              <a:t>Potential Impact on Target Audience</a:t>
            </a:r>
          </a:p>
          <a:p>
            <a:pPr>
              <a:spcAft>
                <a:spcPts val="800"/>
              </a:spcAft>
            </a:pPr>
            <a:r>
              <a:rPr sz="950" b="1" i="0">
                <a:solidFill>
                  <a:srgbClr val="0F172A"/>
                </a:solidFill>
                <a:latin typeface="Arial"/>
              </a:rPr>
              <a:t>Dept. of Land Resources &amp; Survey of India</a:t>
            </a:r>
          </a:p>
          <a:p>
            <a:pPr>
              <a:spcAft>
                <a:spcPts val="400"/>
              </a:spcAft>
            </a:pPr>
            <a:r>
              <a:rPr sz="900" b="0" i="0">
                <a:solidFill>
                  <a:srgbClr val="475569"/>
                </a:solidFill>
                <a:latin typeface="Arial"/>
              </a:rPr>
              <a:t>Blueprint to transition 2D Bhu-Aadhaar into a national 3D cadastral framework.</a:t>
            </a:r>
          </a:p>
          <a:p>
            <a:pPr>
              <a:spcAft>
                <a:spcPts val="800"/>
              </a:spcAft>
            </a:pPr>
            <a:r>
              <a:rPr sz="950" b="1" i="0">
                <a:solidFill>
                  <a:srgbClr val="0F172A"/>
                </a:solidFill>
                <a:latin typeface="Arial"/>
              </a:rPr>
              <a:t>Urban Local Bodies (GHMC / Smart City)</a:t>
            </a:r>
          </a:p>
          <a:p>
            <a:pPr>
              <a:spcAft>
                <a:spcPts val="400"/>
              </a:spcAft>
            </a:pPr>
            <a:r>
              <a:rPr sz="900" b="0" i="0">
                <a:solidFill>
                  <a:srgbClr val="475569"/>
                </a:solidFill>
                <a:latin typeface="Arial"/>
              </a:rPr>
              <a:t>15–25% higher property tax via detection of unassessed floors and FAR violations.</a:t>
            </a:r>
          </a:p>
          <a:p>
            <a:pPr>
              <a:spcAft>
                <a:spcPts val="800"/>
              </a:spcAft>
            </a:pPr>
            <a:r>
              <a:rPr sz="950" b="1" i="0">
                <a:solidFill>
                  <a:srgbClr val="0F172A"/>
                </a:solidFill>
                <a:latin typeface="Arial"/>
              </a:rPr>
              <a:t>Homebuyers &amp; Citizens</a:t>
            </a:r>
          </a:p>
          <a:p>
            <a:pPr>
              <a:spcAft>
                <a:spcPts val="400"/>
              </a:spcAft>
            </a:pPr>
            <a:r>
              <a:rPr sz="900" b="0" i="0">
                <a:solidFill>
                  <a:srgbClr val="475569"/>
                </a:solidFill>
                <a:latin typeface="Arial"/>
              </a:rPr>
              <a:t>Undisputed legal title to specific vertical airspace, replacing UDS agreements.</a:t>
            </a:r>
          </a:p>
          <a:p>
            <a:pPr>
              <a:spcAft>
                <a:spcPts val="800"/>
              </a:spcAft>
            </a:pPr>
            <a:r>
              <a:rPr sz="950" b="1" i="0">
                <a:solidFill>
                  <a:srgbClr val="0F172A"/>
                </a:solidFill>
                <a:latin typeface="Arial"/>
              </a:rPr>
              <a:t>Banks &amp; Mortgage Lenders</a:t>
            </a:r>
          </a:p>
          <a:p>
            <a:pPr>
              <a:spcAft>
                <a:spcPts val="400"/>
              </a:spcAft>
            </a:pPr>
            <a:r>
              <a:rPr sz="900" b="0" i="0">
                <a:solidFill>
                  <a:srgbClr val="475569"/>
                </a:solidFill>
                <a:latin typeface="Arial"/>
              </a:rPr>
              <a:t>Instant 3D collateral verification; eliminates fraudulent multi-mortgaging.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263640" y="1188720"/>
            <a:ext cx="5632704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82880" tIns="164592" bIns="91440"/>
          <a:lstStyle/>
          <a:p>
            <a:pPr algn="ctr">
              <a:spcAft>
                <a:spcPts val="800"/>
              </a:spcAft>
            </a:pPr>
            <a:r>
              <a:rPr sz="1250" b="1" i="0">
                <a:solidFill>
                  <a:srgbClr val="059669"/>
                </a:solidFill>
                <a:latin typeface="Arial"/>
              </a:rPr>
              <a:t>Benefits (Social, Economic, Environmental)</a:t>
            </a:r>
          </a:p>
          <a:p>
            <a:pPr>
              <a:spcAft>
                <a:spcPts val="80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Economic</a:t>
            </a:r>
          </a:p>
          <a:p>
            <a:pPr>
              <a:spcAft>
                <a:spcPts val="400"/>
              </a:spcAft>
            </a:pPr>
            <a:r>
              <a:rPr sz="900" b="0" i="0">
                <a:solidFill>
                  <a:srgbClr val="475569"/>
                </a:solidFill>
                <a:latin typeface="Arial"/>
              </a:rPr>
              <a:t>Eliminates land litigation costs; accelerates bank loan approvals from weeks to minutes.</a:t>
            </a:r>
          </a:p>
          <a:p>
            <a:pPr>
              <a:spcAft>
                <a:spcPts val="80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Social &amp; Governance</a:t>
            </a:r>
          </a:p>
          <a:p>
            <a:pPr>
              <a:spcAft>
                <a:spcPts val="400"/>
              </a:spcAft>
            </a:pPr>
            <a:r>
              <a:rPr sz="900" b="0" i="0">
                <a:solidFill>
                  <a:srgbClr val="475569"/>
                </a:solidFill>
                <a:latin typeface="Arial"/>
              </a:rPr>
              <a:t>100% transparency in vertical ownership; prevents double-selling scams.</a:t>
            </a:r>
          </a:p>
          <a:p>
            <a:pPr>
              <a:spcAft>
                <a:spcPts val="80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Disaster Management</a:t>
            </a:r>
          </a:p>
          <a:p>
            <a:pPr>
              <a:spcAft>
                <a:spcPts val="400"/>
              </a:spcAft>
            </a:pPr>
            <a:r>
              <a:rPr sz="900" b="0" i="0">
                <a:solidFill>
                  <a:srgbClr val="475569"/>
                </a:solidFill>
                <a:latin typeface="Arial"/>
              </a:rPr>
              <a:t>Floor-level flood simulation identifies submerged levels for precision rescue.</a:t>
            </a:r>
          </a:p>
          <a:p>
            <a:pPr>
              <a:spcAft>
                <a:spcPts val="80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Environmental</a:t>
            </a:r>
          </a:p>
          <a:p>
            <a:pPr>
              <a:spcAft>
                <a:spcPts val="400"/>
              </a:spcAft>
            </a:pPr>
            <a:r>
              <a:rPr sz="900" b="0" i="0">
                <a:solidFill>
                  <a:srgbClr val="475569"/>
                </a:solidFill>
                <a:latin typeface="Arial"/>
              </a:rPr>
              <a:t>3D solar shadow analysis enables rooftop PV capacity estimation and heat island mitigation.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65960" y="164592"/>
            <a:ext cx="7406640" cy="868680"/>
          </a:xfrm>
        </p:spPr>
        <p:txBody>
          <a:bodyPr anchor="ctr"/>
          <a:lstStyle/>
          <a:p>
            <a:pPr eaLnBrk="1" hangingPunct="1" algn="l"/>
            <a:r>
              <a:rPr sz="2100" b="1" i="0">
                <a:solidFill>
                  <a:srgbClr val="0F172A"/>
                </a:solidFill>
                <a:latin typeface="Arial"/>
              </a:rPr>
              <a:t>RESEARCH, REFERENCES &amp; WORKING PROTOTYPE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411480" y="182880"/>
            <a:ext cx="1417320" cy="777240"/>
          </a:xfrm>
          <a:prstGeom prst="ellipse">
            <a:avLst/>
          </a:prstGeom>
          <a:solidFill>
            <a:srgbClr val="312E81"/>
          </a:solidFill>
          <a:ln w="19050">
            <a:solidFill>
              <a:srgbClr val="6366F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GeoVoxel</a:t>
            </a:r>
            <a:endParaRPr lang="en-IN" dirty="0"/>
          </a:p>
          <a:p>
            <a:pPr algn="ctr"/>
            <a:r>
              <a:rPr sz="850" b="0" i="0">
                <a:solidFill>
                  <a:srgbClr val="A5B4FC"/>
                </a:solidFill>
                <a:latin typeface="Arial"/>
              </a:rPr>
              <a:t>The coders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02920" y="1188720"/>
            <a:ext cx="621792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82880" tIns="164592" bIns="91440"/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0284C7"/>
                </a:solidFill>
                <a:latin typeface="Arial"/>
              </a:rPr>
              <a:t>Research &amp; Reference Work</a:t>
            </a:r>
          </a:p>
          <a:p>
            <a:pPr>
              <a:spcAft>
                <a:spcPts val="500"/>
              </a:spcAft>
            </a:pPr>
            <a:r>
              <a:rPr sz="900" b="1" i="0">
                <a:solidFill>
                  <a:srgbClr val="0F172A"/>
                </a:solidFill>
                <a:latin typeface="Arial"/>
              </a:rPr>
              <a:t>DoLR / NIC Guidelines: </a:t>
            </a:r>
            <a:r>
              <a:rPr sz="850" b="0" i="0">
                <a:solidFill>
                  <a:srgbClr val="475569"/>
                </a:solidFill>
                <a:latin typeface="Arial"/>
              </a:rPr>
              <a:t>ULPIN / Bhu-Aadhaar Technical Specifications &amp; Design Guidelines (2021–2024).</a:t>
            </a:r>
          </a:p>
          <a:p>
            <a:pPr>
              <a:spcAft>
                <a:spcPts val="500"/>
              </a:spcAft>
            </a:pPr>
            <a:r>
              <a:rPr sz="900" b="1" i="0">
                <a:solidFill>
                  <a:srgbClr val="0F172A"/>
                </a:solidFill>
                <a:latin typeface="Arial"/>
              </a:rPr>
              <a:t>ISO 19152 (LADM): </a:t>
            </a:r>
            <a:r>
              <a:rPr sz="850" b="0" i="0">
                <a:solidFill>
                  <a:srgbClr val="475569"/>
                </a:solidFill>
                <a:latin typeface="Arial"/>
              </a:rPr>
              <a:t>Land Administration Domain Model — Part 3: 3D/4D Spatial Administration.</a:t>
            </a:r>
          </a:p>
          <a:p>
            <a:pPr>
              <a:spcAft>
                <a:spcPts val="500"/>
              </a:spcAft>
            </a:pPr>
            <a:r>
              <a:rPr sz="900" b="1" i="0">
                <a:solidFill>
                  <a:srgbClr val="0F172A"/>
                </a:solidFill>
                <a:latin typeface="Arial"/>
              </a:rPr>
              <a:t>OGC Standards: </a:t>
            </a:r>
            <a:r>
              <a:rPr sz="850" b="0" i="0">
                <a:solidFill>
                  <a:srgbClr val="475569"/>
                </a:solidFill>
                <a:latin typeface="Arial"/>
              </a:rPr>
              <a:t>CityGML 3.0 &amp; 3D Tiles Community Standard for streaming geospatial models.</a:t>
            </a:r>
          </a:p>
          <a:p>
            <a:pPr>
              <a:spcAft>
                <a:spcPts val="500"/>
              </a:spcAft>
            </a:pPr>
            <a:r>
              <a:rPr sz="900" b="1" i="0">
                <a:solidFill>
                  <a:srgbClr val="0F172A"/>
                </a:solidFill>
                <a:latin typeface="Arial"/>
              </a:rPr>
              <a:t>Survey of India &amp; MoHUA: </a:t>
            </a:r>
            <a:r>
              <a:rPr sz="850" b="0" i="0">
                <a:solidFill>
                  <a:srgbClr val="475569"/>
                </a:solidFill>
                <a:latin typeface="Arial"/>
              </a:rPr>
              <a:t>National Geospatial Policy 2022 &amp; NUDM Smart City guidelines.</a:t>
            </a:r>
          </a:p>
          <a:p>
            <a:pPr>
              <a:spcAft>
                <a:spcPts val="500"/>
              </a:spcAft>
            </a:pPr>
            <a:r>
              <a:rPr sz="900" b="1" i="0">
                <a:solidFill>
                  <a:srgbClr val="0F172A"/>
                </a:solidFill>
                <a:latin typeface="Arial"/>
              </a:rPr>
              <a:t>Academic Research: </a:t>
            </a:r>
            <a:r>
              <a:rPr sz="850" b="0" i="0">
                <a:solidFill>
                  <a:srgbClr val="475569"/>
                </a:solidFill>
                <a:latin typeface="Arial"/>
              </a:rPr>
              <a:t>Biljecki et al. (2015): 3D City Models; Stoter et al. (2020): 3D Cadastre in Practice.</a:t>
            </a:r>
          </a:p>
          <a:p>
            <a:pPr>
              <a:spcAft>
                <a:spcPts val="500"/>
              </a:spcAft>
            </a:pPr>
            <a:r>
              <a:rPr sz="900" b="1" i="0">
                <a:solidFill>
                  <a:srgbClr val="0F172A"/>
                </a:solidFill>
                <a:latin typeface="Arial"/>
              </a:rPr>
              <a:t>Data Sources: </a:t>
            </a:r>
            <a:r>
              <a:rPr sz="850" b="0" i="0">
                <a:solidFill>
                  <a:srgbClr val="475569"/>
                </a:solidFill>
                <a:latin typeface="Arial"/>
              </a:rPr>
              <a:t>Copernicus GLO-30 DSM, SRTM DEM, ISRO Bhuvan, OSM (ODbL), TS-RERA Portal.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949440" y="1188720"/>
            <a:ext cx="4709160" cy="960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82880" tIns="91440" bIns="91440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34D399"/>
                </a:solidFill>
                <a:latin typeface="Arial"/>
              </a:rPr>
              <a:t>Working Prototype &amp; Repository</a:t>
            </a:r>
          </a:p>
          <a:p>
            <a:r>
              <a:rPr sz="850" b="1" i="0">
                <a:solidFill>
                  <a:srgbClr val="E2E8F0"/>
                </a:solidFill>
                <a:latin typeface="Arial"/>
              </a:rPr>
              <a:t>GitHub: </a:t>
            </a:r>
            <a:r>
              <a:rPr sz="850" b="0" i="0">
                <a:solidFill>
                  <a:srgbClr val="22D3EE"/>
                </a:solidFill>
                <a:latin typeface="Arial"/>
              </a:rPr>
              <a:t>github.com/Imad-81/SIH-26011</a:t>
            </a:r>
          </a:p>
          <a:p>
            <a:r>
              <a:rPr sz="850" b="1" i="0">
                <a:solidFill>
                  <a:srgbClr val="E2E8F0"/>
                </a:solidFill>
                <a:latin typeface="Arial"/>
              </a:rPr>
              <a:t>3D Viewer: </a:t>
            </a:r>
            <a:r>
              <a:rPr sz="850" b="0" i="0">
                <a:solidFill>
                  <a:srgbClr val="22D3EE"/>
                </a:solidFill>
                <a:latin typeface="Arial"/>
              </a:rPr>
              <a:t>localhost:3000 (Next.js 16 + Three.js)</a:t>
            </a:r>
          </a:p>
          <a:p>
            <a:r>
              <a:rPr sz="850" b="1" i="0">
                <a:solidFill>
                  <a:srgbClr val="E2E8F0"/>
                </a:solidFill>
                <a:latin typeface="Arial"/>
              </a:rPr>
              <a:t>Pipeline: </a:t>
            </a:r>
            <a:r>
              <a:rPr sz="850" b="0" i="0">
                <a:solidFill>
                  <a:srgbClr val="22D3EE"/>
                </a:solidFill>
                <a:latin typeface="Arial"/>
              </a:rPr>
              <a:t>python scripts/pipeline.py --city hyderabad</a:t>
            </a:r>
          </a:p>
        </p:txBody>
      </p:sp>
      <p:pic>
        <p:nvPicPr>
          <p:cNvPr id="17412" name="Picture 17411" descr="prototype_cropp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2240280"/>
            <a:ext cx="4709160" cy="370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