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1E293B"/>
                </a:solidFill>
                <a:latin typeface="Arial"/>
              </a:rPr>
              <a:t>Problem Statement ID – </a:t>
            </a:r>
            <a:r>
              <a:rPr sz="1700" b="1">
                <a:solidFill>
                  <a:srgbClr val="0284C7"/>
                </a:solidFill>
                <a:latin typeface="Arial"/>
              </a:rPr>
              <a:t>SIH26011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1E293B"/>
                </a:solidFill>
                <a:latin typeface="Arial"/>
              </a:rPr>
              <a:t>Problem Statement Title – </a:t>
            </a:r>
            <a:r>
              <a:rPr sz="1700" b="1">
                <a:solidFill>
                  <a:srgbClr val="0F172A"/>
                </a:solidFill>
                <a:latin typeface="Arial"/>
              </a:rPr>
              <a:t>3D ULPIN (Bhu-Aadhaar) Generation, Vertical Cadastre &amp; 3D Building Visualization Digital Twin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1E293B"/>
                </a:solidFill>
                <a:latin typeface="Arial"/>
              </a:rPr>
              <a:t>Theme – </a:t>
            </a:r>
            <a:r>
              <a:rPr sz="1700" b="0">
                <a:solidFill>
                  <a:srgbClr val="1E293B"/>
                </a:solidFill>
                <a:latin typeface="Arial"/>
              </a:rPr>
              <a:t>Smart Automation / Geospatial Technology / Smart Cities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1E293B"/>
                </a:solidFill>
                <a:latin typeface="Arial"/>
              </a:rPr>
              <a:t>PS Category – </a:t>
            </a:r>
            <a:r>
              <a:rPr sz="1700" b="0">
                <a:solidFill>
                  <a:srgbClr val="1E293B"/>
                </a:solidFill>
                <a:latin typeface="Arial"/>
              </a:rPr>
              <a:t>Software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1E293B"/>
                </a:solidFill>
                <a:latin typeface="Arial"/>
              </a:rPr>
              <a:t>Team Name (Registered on portal) – </a:t>
            </a:r>
            <a:r>
              <a:rPr sz="1700" b="1">
                <a:solidFill>
                  <a:srgbClr val="4F46E5"/>
                </a:solidFill>
                <a:latin typeface="Arial"/>
              </a:rPr>
              <a:t>GeoVoxel The coders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965960" y="164592"/>
            <a:ext cx="7406640" cy="868680"/>
          </a:xfrm>
        </p:spPr>
        <p:txBody>
          <a:bodyPr anchor="ctr"/>
          <a:lstStyle/>
          <a:p>
            <a:pPr eaLnBrk="1" hangingPunct="1" algn="l"/>
            <a:r>
              <a:rPr sz="2100" b="1" i="0">
                <a:solidFill>
                  <a:srgbClr val="0F172A"/>
                </a:solidFill>
                <a:latin typeface="Arial"/>
              </a:rPr>
              <a:t>GEO-CADASTRE 3D: Autonomous 3D ULPIN &amp; Vertical Cadastre Digital Twin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411480" y="182880"/>
            <a:ext cx="1417320" cy="777240"/>
          </a:xfrm>
          <a:prstGeom prst="ellipse">
            <a:avLst/>
          </a:prstGeom>
          <a:solidFill>
            <a:srgbClr val="312E81"/>
          </a:solidFill>
          <a:ln w="19050">
            <a:solidFill>
              <a:srgbClr val="6366F1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45720" rIns="4572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GeoVoxel</a:t>
            </a:r>
            <a:endParaRPr lang="en-IN" dirty="0"/>
          </a:p>
          <a:p>
            <a:pPr algn="ctr"/>
            <a:r>
              <a:rPr sz="850" b="0">
                <a:solidFill>
                  <a:srgbClr val="A5B4FC"/>
                </a:solidFill>
                <a:latin typeface="Arial"/>
              </a:rPr>
              <a:t>The coders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Rectangle 15361"/>
          <p:cNvSpPr/>
          <p:nvPr/>
        </p:nvSpPr>
        <p:spPr>
          <a:xfrm>
            <a:off x="502920" y="1188720"/>
            <a:ext cx="54864" cy="47548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3" name="Rounded Rectangle 15362"/>
          <p:cNvSpPr/>
          <p:nvPr/>
        </p:nvSpPr>
        <p:spPr>
          <a:xfrm>
            <a:off x="594360" y="1188720"/>
            <a:ext cx="6126480" cy="47548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82880" tIns="146304" bIns="9144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284C7"/>
                </a:solidFill>
                <a:latin typeface="Arial"/>
              </a:rPr>
              <a:t>⚡ Proposed Solution</a:t>
            </a:r>
          </a:p>
          <a:p>
            <a:pPr>
              <a:spcAft>
                <a:spcPts val="250"/>
              </a:spcAft>
            </a:pPr>
            <a:r>
              <a:rPr sz="880" b="0" i="0">
                <a:solidFill>
                  <a:srgbClr val="1E293B"/>
                </a:solidFill>
                <a:latin typeface="Arial"/>
              </a:rPr>
              <a:t>• End-to-end autonomous geospatial pipeline that generates India's first production-ready 3D vertical cadastre, transforming 2D Bhu-Aadhaar (ULPIN) into legally actionable volumetric land parcels.</a:t>
            </a:r>
          </a:p>
          <a:p>
            <a:pPr>
              <a:spcAft>
                <a:spcPts val="250"/>
              </a:spcAft>
            </a:pPr>
            <a:r>
              <a:rPr sz="880" b="0" i="0">
                <a:solidFill>
                  <a:srgbClr val="1E293B"/>
                </a:solidFill>
                <a:latin typeface="Arial"/>
              </a:rPr>
              <a:t>• Interactive 60 FPS WebGL digital twin built on Next.js 16 + Three.js, delivering real-time building inspection, floor isolation, and solar analysis in any browser.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 i="0">
                <a:solidFill>
                  <a:srgbClr val="4F46E5"/>
                </a:solidFill>
                <a:latin typeface="Arial"/>
              </a:rPr>
              <a:t>🔬 Detailed Technical Solution</a:t>
            </a:r>
          </a:p>
          <a:p>
            <a:pPr>
              <a:spcAft>
                <a:spcPts val="250"/>
              </a:spcAft>
            </a:pPr>
            <a:r>
              <a:rPr sz="880" b="0" i="0">
                <a:solidFill>
                  <a:srgbClr val="1E293B"/>
                </a:solidFill>
                <a:latin typeface="Arial"/>
              </a:rPr>
              <a:t>• Tier 1 (Unit-Level 3D ULPIN): Parses sanctioned TS-RERA architectural blueprints into individual flat/unit parcels ({ULPIN-2D}-FLxx-Uyyyy) with carpet area, facing direction, and Z-coordinates.</a:t>
            </a:r>
          </a:p>
          <a:p>
            <a:pPr>
              <a:spcAft>
                <a:spcPts val="250"/>
              </a:spcAft>
            </a:pPr>
            <a:r>
              <a:rPr sz="880" b="0" i="0">
                <a:solidFill>
                  <a:srgbClr val="1E293B"/>
                </a:solidFill>
                <a:latin typeface="Arial"/>
              </a:rPr>
              <a:t>• Tier 2 (Floor-Level 3D ULPIN): Automated vertical cadastre ({ULPIN-2D}-FLxx) for all buildings via hybrid DSM-DEM height estimation with zero-discrepancy floor normalization.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 i="0">
                <a:solidFill>
                  <a:srgbClr val="059669"/>
                </a:solidFill>
                <a:latin typeface="Arial"/>
              </a:rPr>
              <a:t>🎯 How It Addresses The Problem</a:t>
            </a:r>
          </a:p>
          <a:p>
            <a:pPr>
              <a:spcAft>
                <a:spcPts val="250"/>
              </a:spcAft>
            </a:pPr>
            <a:r>
              <a:rPr sz="880" b="0" i="0">
                <a:solidFill>
                  <a:srgbClr val="1E293B"/>
                </a:solidFill>
                <a:latin typeface="Arial"/>
              </a:rPr>
              <a:t>• Eliminates multi-ownership chaos where hundreds of apartment owners share a single 2D survey number — each unit now has its own unique 3D spatial identity.</a:t>
            </a:r>
          </a:p>
          <a:p>
            <a:pPr>
              <a:spcAft>
                <a:spcPts val="250"/>
              </a:spcAft>
            </a:pPr>
            <a:r>
              <a:rPr sz="880" b="0" i="0">
                <a:solidFill>
                  <a:srgbClr val="1E293B"/>
                </a:solidFill>
                <a:latin typeface="Arial"/>
              </a:rPr>
              <a:t>• Creates undisputed legal 3D spatial parcels (Z-min, Z-max MSL) aligned with ISO 19152 LADM Part 3 and OGC CityGML 3.0 standards.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 i="0">
                <a:solidFill>
                  <a:srgbClr val="E11D48"/>
                </a:solidFill>
                <a:latin typeface="Arial"/>
              </a:rPr>
              <a:t>💡 Innovation &amp; Uniqueness</a:t>
            </a:r>
          </a:p>
          <a:p>
            <a:pPr>
              <a:spcAft>
                <a:spcPts val="250"/>
              </a:spcAft>
            </a:pPr>
            <a:r>
              <a:rPr sz="880" b="0" i="0">
                <a:solidFill>
                  <a:srgbClr val="1E293B"/>
                </a:solidFill>
                <a:latin typeface="Arial"/>
              </a:rPr>
              <a:t>• Zero-Discrepancy Floor Slab Engine: Proportional normalization guarantees ∑ hᵢ ≡ H_building with 0.00m cumulative error across all 4,641 buildings.</a:t>
            </a:r>
          </a:p>
          <a:p>
            <a:pPr>
              <a:spcAft>
                <a:spcPts val="250"/>
              </a:spcAft>
            </a:pPr>
            <a:r>
              <a:rPr sz="880" b="0" i="0">
                <a:solidFill>
                  <a:srgbClr val="1E293B"/>
                </a:solidFill>
                <a:latin typeface="Arial"/>
              </a:rPr>
              <a:t>• Client-Side 60 FPS Digital Twin: Full BatchedMesh / LOD rendering of 22,761 volumetric parcels + 238 km road network — no server GPU required.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6949440" y="1188720"/>
            <a:ext cx="4709160" cy="1234440"/>
          </a:xfrm>
          <a:prstGeom prst="roundRect">
            <a:avLst/>
          </a:prstGeom>
          <a:solidFill>
            <a:srgbClr val="082F49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950" b="1" i="0">
                <a:solidFill>
                  <a:srgbClr val="38BDF8"/>
                </a:solidFill>
                <a:latin typeface="Arial"/>
              </a:rPr>
              <a:t>🏛 GOVERNMENT 2D BHU-AADHAAR (ULPIN)</a:t>
            </a:r>
          </a:p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3621050103VUWK</a:t>
            </a:r>
            <a:r>
              <a:rPr sz="900" b="0" i="0">
                <a:solidFill>
                  <a:srgbClr val="94A3B8"/>
                </a:solidFill>
                <a:latin typeface="Arial"/>
              </a:rPr>
              <a:t>  (14-Digit DoLR Standard)</a:t>
            </a:r>
          </a:p>
          <a:p>
            <a:pPr algn="ctr"/>
            <a:r>
              <a:rPr sz="780" b="0" i="0">
                <a:solidFill>
                  <a:srgbClr val="94A3B8"/>
                </a:solidFill>
                <a:latin typeface="Arial"/>
              </a:rPr>
              <a:t>State: 36 · District: 21 · Mandal: 05 · Village: 0103 · Survey: 83/1</a:t>
            </a:r>
          </a:p>
        </p:txBody>
      </p:sp>
      <p:sp>
        <p:nvSpPr>
          <p:cNvPr id="15365" name="Rectangle 15364"/>
          <p:cNvSpPr/>
          <p:nvPr/>
        </p:nvSpPr>
        <p:spPr>
          <a:xfrm>
            <a:off x="7040880" y="1234440"/>
            <a:ext cx="4526280" cy="457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6" name="Rectangle 15365"/>
          <p:cNvSpPr/>
          <p:nvPr/>
        </p:nvSpPr>
        <p:spPr>
          <a:xfrm>
            <a:off x="9070848" y="2450592"/>
            <a:ext cx="54864" cy="20116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7" name="Rectangle 15366"/>
          <p:cNvSpPr/>
          <p:nvPr/>
        </p:nvSpPr>
        <p:spPr>
          <a:xfrm>
            <a:off x="7772400" y="2633472"/>
            <a:ext cx="137160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8" name="Rectangle 15367"/>
          <p:cNvSpPr/>
          <p:nvPr/>
        </p:nvSpPr>
        <p:spPr>
          <a:xfrm>
            <a:off x="7772400" y="2633472"/>
            <a:ext cx="36576" cy="18288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9" name="Rectangle 15368"/>
          <p:cNvSpPr/>
          <p:nvPr/>
        </p:nvSpPr>
        <p:spPr>
          <a:xfrm>
            <a:off x="9098280" y="2633472"/>
            <a:ext cx="137160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0" name="Rectangle 15369"/>
          <p:cNvSpPr/>
          <p:nvPr/>
        </p:nvSpPr>
        <p:spPr>
          <a:xfrm>
            <a:off x="10442448" y="2633472"/>
            <a:ext cx="36576" cy="18288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1" name="Rounded Rectangle 15370"/>
          <p:cNvSpPr/>
          <p:nvPr/>
        </p:nvSpPr>
        <p:spPr>
          <a:xfrm>
            <a:off x="6949440" y="2852928"/>
            <a:ext cx="2267712" cy="3090672"/>
          </a:xfrm>
          <a:prstGeom prst="roundRect">
            <a:avLst/>
          </a:prstGeom>
          <a:solidFill>
            <a:srgbClr val="064E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/>
            <a:r>
              <a:rPr sz="950" b="1" i="0">
                <a:solidFill>
                  <a:srgbClr val="34D399"/>
                </a:solidFill>
                <a:latin typeface="Arial"/>
              </a:rPr>
              <a:t>TIER 1: UNIT 3D ULPIN</a:t>
            </a:r>
          </a:p>
          <a:p>
            <a:pPr algn="ctr">
              <a:spcAft>
                <a:spcPts val="300"/>
              </a:spcAft>
            </a:pPr>
            <a:r>
              <a:rPr sz="750" b="0" i="0">
                <a:solidFill>
                  <a:srgbClr val="6EE7B7"/>
                </a:solidFill>
                <a:latin typeface="Arial"/>
              </a:rPr>
              <a:t>(Sanctioned RERA Blueprints)</a:t>
            </a:r>
          </a:p>
          <a:p>
            <a:pPr>
              <a:spcBef>
                <a:spcPts val="300"/>
              </a:spcBef>
            </a:pPr>
            <a:r>
              <a:rPr sz="750" b="1" i="0">
                <a:solidFill>
                  <a:srgbClr val="FFFFFF"/>
                </a:solidFill>
                <a:latin typeface="Arial"/>
              </a:rPr>
              <a:t>▸ -FL32-U3201
</a:t>
            </a:r>
            <a:r>
              <a:rPr sz="700" b="0" i="0">
                <a:solidFill>
                  <a:srgbClr val="6EE7B7"/>
                </a:solidFill>
                <a:latin typeface="Arial"/>
              </a:rPr>
              <a:t>   4BHK Luxury · 318 m² · East</a:t>
            </a:r>
          </a:p>
          <a:p>
            <a:pPr>
              <a:spcBef>
                <a:spcPts val="300"/>
              </a:spcBef>
            </a:pPr>
            <a:r>
              <a:rPr sz="750" b="1" i="0">
                <a:solidFill>
                  <a:srgbClr val="FFFFFF"/>
                </a:solidFill>
                <a:latin typeface="Arial"/>
              </a:rPr>
              <a:t>▸ -FL32-U3202
</a:t>
            </a:r>
            <a:r>
              <a:rPr sz="700" b="0" i="0">
                <a:solidFill>
                  <a:srgbClr val="6EE7B7"/>
                </a:solidFill>
                <a:latin typeface="Arial"/>
              </a:rPr>
              <a:t>   3BHK Premium · 241 m² · West</a:t>
            </a:r>
          </a:p>
          <a:p>
            <a:pPr>
              <a:spcBef>
                <a:spcPts val="300"/>
              </a:spcBef>
            </a:pPr>
            <a:r>
              <a:rPr sz="750" b="1" i="0">
                <a:solidFill>
                  <a:srgbClr val="FFFFFF"/>
                </a:solidFill>
                <a:latin typeface="Arial"/>
              </a:rPr>
              <a:t>▸ -FL32-U3203
</a:t>
            </a:r>
            <a:r>
              <a:rPr sz="700" b="0" i="0">
                <a:solidFill>
                  <a:srgbClr val="6EE7B7"/>
                </a:solidFill>
                <a:latin typeface="Arial"/>
              </a:rPr>
              <a:t>   3BHK Premium · 241 m² · North</a:t>
            </a:r>
          </a:p>
          <a:p>
            <a:pPr>
              <a:spcBef>
                <a:spcPts val="300"/>
              </a:spcBef>
            </a:pPr>
            <a:r>
              <a:rPr sz="750" b="1" i="0">
                <a:solidFill>
                  <a:srgbClr val="FFFFFF"/>
                </a:solidFill>
                <a:latin typeface="Arial"/>
              </a:rPr>
              <a:t>▸ -FL32-ULOBBY
</a:t>
            </a:r>
            <a:r>
              <a:rPr sz="700" b="0" i="0">
                <a:solidFill>
                  <a:srgbClr val="6EE7B7"/>
                </a:solidFill>
                <a:latin typeface="Arial"/>
              </a:rPr>
              <a:t>   Common Area · Lift &amp; Fire · 85 m²</a:t>
            </a:r>
          </a:p>
        </p:txBody>
      </p:sp>
      <p:sp>
        <p:nvSpPr>
          <p:cNvPr id="15372" name="Rectangle 15371"/>
          <p:cNvSpPr/>
          <p:nvPr/>
        </p:nvSpPr>
        <p:spPr>
          <a:xfrm>
            <a:off x="7040880" y="2898648"/>
            <a:ext cx="2084831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3" name="Rounded Rectangle 15372"/>
          <p:cNvSpPr/>
          <p:nvPr/>
        </p:nvSpPr>
        <p:spPr>
          <a:xfrm>
            <a:off x="9390888" y="2852928"/>
            <a:ext cx="2267712" cy="3090672"/>
          </a:xfrm>
          <a:prstGeom prst="roundRect">
            <a:avLst/>
          </a:prstGeom>
          <a:solidFill>
            <a:srgbClr val="1E1B4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/>
            <a:r>
              <a:rPr sz="950" b="1" i="0">
                <a:solidFill>
                  <a:srgbClr val="818CF8"/>
                </a:solidFill>
                <a:latin typeface="Arial"/>
              </a:rPr>
              <a:t>TIER 2: FLOOR 3D ULPIN</a:t>
            </a:r>
          </a:p>
          <a:p>
            <a:pPr algn="ctr">
              <a:spcAft>
                <a:spcPts val="300"/>
              </a:spcAft>
            </a:pPr>
            <a:r>
              <a:rPr sz="750" b="0" i="0">
                <a:solidFill>
                  <a:srgbClr val="A5B4FC"/>
                </a:solidFill>
                <a:latin typeface="Arial"/>
              </a:rPr>
              <a:t>(Automated Height Slicing)</a:t>
            </a:r>
          </a:p>
          <a:p>
            <a:pPr>
              <a:spcBef>
                <a:spcPts val="300"/>
              </a:spcBef>
            </a:pPr>
            <a:r>
              <a:rPr sz="750" b="1" i="0">
                <a:solidFill>
                  <a:srgbClr val="FFFFFF"/>
                </a:solidFill>
                <a:latin typeface="Arial"/>
              </a:rPr>
              <a:t>▸ -FL32
</a:t>
            </a:r>
            <a:r>
              <a:rPr sz="700" b="0" i="0">
                <a:solidFill>
                  <a:srgbClr val="A5B4FC"/>
                </a:solidFill>
                <a:latin typeface="Arial"/>
              </a:rPr>
              <a:t>   Floor 32 · Z: 691.01m – 694.00m MSL</a:t>
            </a:r>
          </a:p>
          <a:p>
            <a:pPr>
              <a:spcBef>
                <a:spcPts val="300"/>
              </a:spcBef>
            </a:pPr>
            <a:r>
              <a:rPr sz="750" b="1" i="0">
                <a:solidFill>
                  <a:srgbClr val="FFFFFF"/>
                </a:solidFill>
                <a:latin typeface="Arial"/>
              </a:rPr>
              <a:t>▸ -FL15
</a:t>
            </a:r>
            <a:r>
              <a:rPr sz="700" b="0" i="0">
                <a:solidFill>
                  <a:srgbClr val="A5B4FC"/>
                </a:solidFill>
                <a:latin typeface="Arial"/>
              </a:rPr>
              <a:t>   Floor 15 · Z: 639.75m – 642.75m MSL</a:t>
            </a:r>
          </a:p>
          <a:p>
            <a:pPr>
              <a:spcBef>
                <a:spcPts val="300"/>
              </a:spcBef>
            </a:pPr>
            <a:r>
              <a:rPr sz="750" b="1" i="0">
                <a:solidFill>
                  <a:srgbClr val="FFFFFF"/>
                </a:solidFill>
                <a:latin typeface="Arial"/>
              </a:rPr>
              <a:t>▸ -FL08
</a:t>
            </a:r>
            <a:r>
              <a:rPr sz="700" b="0" i="0">
                <a:solidFill>
                  <a:srgbClr val="A5B4FC"/>
                </a:solidFill>
                <a:latin typeface="Arial"/>
              </a:rPr>
              <a:t>   Floor 8 · Z: 618.34m – 621.34m MSL</a:t>
            </a:r>
          </a:p>
          <a:p>
            <a:pPr>
              <a:spcBef>
                <a:spcPts val="300"/>
              </a:spcBef>
            </a:pPr>
            <a:r>
              <a:rPr sz="750" b="1" i="0">
                <a:solidFill>
                  <a:srgbClr val="FFFFFF"/>
                </a:solidFill>
                <a:latin typeface="Arial"/>
              </a:rPr>
              <a:t>▸ -FL00
</a:t>
            </a:r>
            <a:r>
              <a:rPr sz="700" b="0" i="0">
                <a:solidFill>
                  <a:srgbClr val="A5B4FC"/>
                </a:solidFill>
                <a:latin typeface="Arial"/>
              </a:rPr>
              <a:t>   Ground · Z: 594.00m – 598.34m MSL</a:t>
            </a:r>
          </a:p>
        </p:txBody>
      </p:sp>
      <p:sp>
        <p:nvSpPr>
          <p:cNvPr id="15374" name="Rectangle 15373"/>
          <p:cNvSpPr/>
          <p:nvPr/>
        </p:nvSpPr>
        <p:spPr>
          <a:xfrm>
            <a:off x="9482328" y="2898648"/>
            <a:ext cx="2084831" cy="36576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65960" y="164592"/>
            <a:ext cx="7406640" cy="868680"/>
          </a:xfrm>
        </p:spPr>
        <p:txBody>
          <a:bodyPr anchor="ctr"/>
          <a:lstStyle/>
          <a:p>
            <a:pPr eaLnBrk="1" hangingPunct="1" algn="l"/>
            <a:r>
              <a:rPr sz="2100" b="1" i="0">
                <a:solidFill>
                  <a:srgbClr val="0F172A"/>
                </a:solidFill>
                <a:latin typeface="Arial"/>
              </a:rPr>
              <a:t>TECHNICAL APPROACH &amp; PIPELINE ARCHITECTURE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411480" y="182880"/>
            <a:ext cx="1417320" cy="777240"/>
          </a:xfrm>
          <a:prstGeom prst="ellipse">
            <a:avLst/>
          </a:prstGeom>
          <a:solidFill>
            <a:srgbClr val="312E81"/>
          </a:solidFill>
          <a:ln w="19050">
            <a:solidFill>
              <a:srgbClr val="6366F1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45720" rIns="4572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GeoVoxel</a:t>
            </a:r>
            <a:endParaRPr lang="en-IN" dirty="0"/>
          </a:p>
          <a:p>
            <a:pPr algn="ctr"/>
            <a:r>
              <a:rPr sz="850" b="0">
                <a:solidFill>
                  <a:srgbClr val="A5B4FC"/>
                </a:solidFill>
                <a:latin typeface="Arial"/>
              </a:rPr>
              <a:t>The coders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502920" y="1143000"/>
            <a:ext cx="2697480" cy="2267712"/>
          </a:xfrm>
          <a:prstGeom prst="roundRect">
            <a:avLst/>
          </a:prstGeom>
          <a:solidFill>
            <a:srgbClr val="082F49"/>
          </a:solidFill>
          <a:ln w="2286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Rounded Rectangle 17410"/>
          <p:cNvSpPr/>
          <p:nvPr/>
        </p:nvSpPr>
        <p:spPr>
          <a:xfrm>
            <a:off x="557784" y="1197864"/>
            <a:ext cx="2587752" cy="50292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📡 STAGE 1</a:t>
            </a:r>
          </a:p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DATA INGESTION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576072" y="1746504"/>
            <a:ext cx="2551176" cy="1609344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350"/>
              </a:spcAft>
            </a:pPr>
            <a:r>
              <a:rPr sz="850" b="0" i="0">
                <a:solidFill>
                  <a:srgbClr val="E2E8F0"/>
                </a:solidFill>
                <a:latin typeface="Arial"/>
              </a:rPr>
              <a:t>• OpenStreetMap (Overpass QL)</a:t>
            </a:r>
          </a:p>
          <a:p>
            <a:pPr>
              <a:spcAft>
                <a:spcPts val="350"/>
              </a:spcAft>
            </a:pPr>
            <a:r>
              <a:rPr sz="850" b="0" i="0">
                <a:solidFill>
                  <a:srgbClr val="E2E8F0"/>
                </a:solidFill>
                <a:latin typeface="Arial"/>
              </a:rPr>
              <a:t>• Copernicus GLO-30 DSM (AWS)</a:t>
            </a:r>
          </a:p>
          <a:p>
            <a:pPr>
              <a:spcAft>
                <a:spcPts val="350"/>
              </a:spcAft>
            </a:pPr>
            <a:r>
              <a:rPr sz="850" b="0" i="0">
                <a:solidFill>
                  <a:srgbClr val="E2E8F0"/>
                </a:solidFill>
                <a:latin typeface="Arial"/>
              </a:rPr>
              <a:t>• SRTM GL1 DEM (OpenTopo)</a:t>
            </a:r>
          </a:p>
          <a:p>
            <a:pPr>
              <a:spcAft>
                <a:spcPts val="350"/>
              </a:spcAft>
            </a:pPr>
            <a:r>
              <a:rPr sz="850" b="0" i="0">
                <a:solidFill>
                  <a:srgbClr val="E2E8F0"/>
                </a:solidFill>
                <a:latin typeface="Arial"/>
              </a:rPr>
              <a:t>• ISRO Bhuvan OGC Geoportal</a:t>
            </a:r>
          </a:p>
          <a:p>
            <a:pPr>
              <a:spcAft>
                <a:spcPts val="350"/>
              </a:spcAft>
            </a:pPr>
            <a:r>
              <a:rPr sz="850" b="0" i="0">
                <a:solidFill>
                  <a:srgbClr val="E2E8F0"/>
                </a:solidFill>
                <a:latin typeface="Arial"/>
              </a:rPr>
              <a:t>• TS-RERA &amp; Dharani Land DB</a:t>
            </a:r>
          </a:p>
        </p:txBody>
      </p:sp>
      <p:sp>
        <p:nvSpPr>
          <p:cNvPr id="17413" name="Right Arrow 17412"/>
          <p:cNvSpPr/>
          <p:nvPr/>
        </p:nvSpPr>
        <p:spPr>
          <a:xfrm>
            <a:off x="3218688" y="2258568"/>
            <a:ext cx="100584" cy="137160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Rounded Rectangle 17413"/>
          <p:cNvSpPr/>
          <p:nvPr/>
        </p:nvSpPr>
        <p:spPr>
          <a:xfrm>
            <a:off x="3337560" y="1143000"/>
            <a:ext cx="2697480" cy="2267712"/>
          </a:xfrm>
          <a:prstGeom prst="roundRect">
            <a:avLst/>
          </a:prstGeom>
          <a:solidFill>
            <a:srgbClr val="1E1B4B"/>
          </a:solidFill>
          <a:ln w="2286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Rounded Rectangle 17414"/>
          <p:cNvSpPr/>
          <p:nvPr/>
        </p:nvSpPr>
        <p:spPr>
          <a:xfrm>
            <a:off x="3392424" y="1197864"/>
            <a:ext cx="2587752" cy="50292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📐 STAGE 2</a:t>
            </a:r>
          </a:p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5-TIER HEIGHT ENGINE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3410712" y="1746504"/>
            <a:ext cx="2551176" cy="1609344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350"/>
              </a:spcAft>
            </a:pPr>
            <a:r>
              <a:rPr sz="850" b="0" i="0">
                <a:solidFill>
                  <a:srgbClr val="E2E8F0"/>
                </a:solidFill>
                <a:latin typeface="Arial"/>
              </a:rPr>
              <a:t>• 1. Landmark / RERA Registry</a:t>
            </a:r>
          </a:p>
          <a:p>
            <a:pPr>
              <a:spcAft>
                <a:spcPts val="350"/>
              </a:spcAft>
            </a:pPr>
            <a:r>
              <a:rPr sz="850" b="0" i="0">
                <a:solidFill>
                  <a:srgbClr val="E2E8F0"/>
                </a:solidFill>
                <a:latin typeface="Arial"/>
              </a:rPr>
              <a:t>• 2. DSM-DEM Zonal Statistics</a:t>
            </a:r>
          </a:p>
          <a:p>
            <a:pPr>
              <a:spcAft>
                <a:spcPts val="350"/>
              </a:spcAft>
            </a:pPr>
            <a:r>
              <a:rPr sz="850" b="0" i="0">
                <a:solidFill>
                  <a:srgbClr val="E2E8F0"/>
                </a:solidFill>
                <a:latin typeface="Arial"/>
              </a:rPr>
              <a:t>• 3. Annular Buffer Sampling</a:t>
            </a:r>
          </a:p>
          <a:p>
            <a:pPr>
              <a:spcAft>
                <a:spcPts val="350"/>
              </a:spcAft>
            </a:pPr>
            <a:r>
              <a:rPr sz="850" b="0" i="0">
                <a:solidFill>
                  <a:srgbClr val="E2E8F0"/>
                </a:solidFill>
                <a:latin typeface="Arial"/>
              </a:rPr>
              <a:t>• 4. Morphological Typology</a:t>
            </a:r>
          </a:p>
          <a:p>
            <a:pPr>
              <a:spcAft>
                <a:spcPts val="350"/>
              </a:spcAft>
            </a:pPr>
            <a:r>
              <a:rPr sz="850" b="0" i="0">
                <a:solidFill>
                  <a:srgbClr val="E2E8F0"/>
                </a:solidFill>
                <a:latin typeface="Arial"/>
              </a:rPr>
              <a:t>• 5. Cluster Spatial Propagation</a:t>
            </a:r>
          </a:p>
        </p:txBody>
      </p:sp>
      <p:sp>
        <p:nvSpPr>
          <p:cNvPr id="17417" name="Right Arrow 17416"/>
          <p:cNvSpPr/>
          <p:nvPr/>
        </p:nvSpPr>
        <p:spPr>
          <a:xfrm>
            <a:off x="6053328" y="2258568"/>
            <a:ext cx="100584" cy="137160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ounded Rectangle 17417"/>
          <p:cNvSpPr/>
          <p:nvPr/>
        </p:nvSpPr>
        <p:spPr>
          <a:xfrm>
            <a:off x="6172200" y="1143000"/>
            <a:ext cx="2697480" cy="2267712"/>
          </a:xfrm>
          <a:prstGeom prst="roundRect">
            <a:avLst/>
          </a:prstGeom>
          <a:solidFill>
            <a:srgbClr val="064E3B"/>
          </a:solidFill>
          <a:ln w="228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Rounded Rectangle 17418"/>
          <p:cNvSpPr/>
          <p:nvPr/>
        </p:nvSpPr>
        <p:spPr>
          <a:xfrm>
            <a:off x="6227064" y="1197864"/>
            <a:ext cx="2587752" cy="5029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🏗 STAGE 3</a:t>
            </a:r>
          </a:p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3D CADASTRE &amp; ULPIN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6245352" y="1746504"/>
            <a:ext cx="2551176" cy="1609344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350"/>
              </a:spcAft>
            </a:pPr>
            <a:r>
              <a:rPr sz="850" b="0" i="0">
                <a:solidFill>
                  <a:srgbClr val="E2E8F0"/>
                </a:solidFill>
                <a:latin typeface="Arial"/>
              </a:rPr>
              <a:t>• 14-Digit 2D Bhu-Aadhaar (NIC)</a:t>
            </a:r>
          </a:p>
          <a:p>
            <a:pPr>
              <a:spcAft>
                <a:spcPts val="350"/>
              </a:spcAft>
            </a:pPr>
            <a:r>
              <a:rPr sz="850" b="0" i="0">
                <a:solidFill>
                  <a:srgbClr val="E2E8F0"/>
                </a:solidFill>
                <a:latin typeface="Arial"/>
              </a:rPr>
              <a:t>• Unit 3D ULPIN (-FLxx-Uyyyy)</a:t>
            </a:r>
          </a:p>
          <a:p>
            <a:pPr>
              <a:spcAft>
                <a:spcPts val="350"/>
              </a:spcAft>
            </a:pPr>
            <a:r>
              <a:rPr sz="850" b="0" i="0">
                <a:solidFill>
                  <a:srgbClr val="E2E8F0"/>
                </a:solidFill>
                <a:latin typeface="Arial"/>
              </a:rPr>
              <a:t>• Floor 3D ULPIN (-FLxx)</a:t>
            </a:r>
          </a:p>
          <a:p>
            <a:pPr>
              <a:spcAft>
                <a:spcPts val="350"/>
              </a:spcAft>
            </a:pPr>
            <a:r>
              <a:rPr sz="850" b="0" i="0">
                <a:solidFill>
                  <a:srgbClr val="E2E8F0"/>
                </a:solidFill>
                <a:latin typeface="Arial"/>
              </a:rPr>
              <a:t>• Zero-Discrepancy Normalizer</a:t>
            </a:r>
          </a:p>
          <a:p>
            <a:pPr>
              <a:spcAft>
                <a:spcPts val="350"/>
              </a:spcAft>
            </a:pPr>
            <a:r>
              <a:rPr sz="850" b="0" i="0">
                <a:solidFill>
                  <a:srgbClr val="E2E8F0"/>
                </a:solidFill>
                <a:latin typeface="Arial"/>
              </a:rPr>
              <a:t>• ISO 19152 LADM / CityGML 3.0</a:t>
            </a:r>
          </a:p>
        </p:txBody>
      </p:sp>
      <p:sp>
        <p:nvSpPr>
          <p:cNvPr id="17421" name="Right Arrow 17420"/>
          <p:cNvSpPr/>
          <p:nvPr/>
        </p:nvSpPr>
        <p:spPr>
          <a:xfrm>
            <a:off x="8887968" y="2258568"/>
            <a:ext cx="100584" cy="137160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Rounded Rectangle 17421"/>
          <p:cNvSpPr/>
          <p:nvPr/>
        </p:nvSpPr>
        <p:spPr>
          <a:xfrm>
            <a:off x="9006840" y="1143000"/>
            <a:ext cx="2697480" cy="2267712"/>
          </a:xfrm>
          <a:prstGeom prst="roundRect">
            <a:avLst/>
          </a:prstGeom>
          <a:solidFill>
            <a:srgbClr val="451A03"/>
          </a:solidFill>
          <a:ln w="228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Rounded Rectangle 17422"/>
          <p:cNvSpPr/>
          <p:nvPr/>
        </p:nvSpPr>
        <p:spPr>
          <a:xfrm>
            <a:off x="9061704" y="1197864"/>
            <a:ext cx="2587752" cy="50292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🌐 STAGE 4</a:t>
            </a:r>
          </a:p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3D DIGITAL TWIN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9079992" y="1746504"/>
            <a:ext cx="2551176" cy="1609344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350"/>
              </a:spcAft>
            </a:pPr>
            <a:r>
              <a:rPr sz="850" b="0" i="0">
                <a:solidFill>
                  <a:srgbClr val="E2E8F0"/>
                </a:solidFill>
                <a:latin typeface="Arial"/>
              </a:rPr>
              <a:t>• Next.js 16 + React 19 + Three.js</a:t>
            </a:r>
          </a:p>
          <a:p>
            <a:pPr>
              <a:spcAft>
                <a:spcPts val="350"/>
              </a:spcAft>
            </a:pPr>
            <a:r>
              <a:rPr sz="850" b="0" i="0">
                <a:solidFill>
                  <a:srgbClr val="E2E8F0"/>
                </a:solidFill>
                <a:latin typeface="Arial"/>
              </a:rPr>
              <a:t>• 60 FPS BatchedMesh / LOD</a:t>
            </a:r>
          </a:p>
          <a:p>
            <a:pPr>
              <a:spcAft>
                <a:spcPts val="350"/>
              </a:spcAft>
            </a:pPr>
            <a:r>
              <a:rPr sz="850" b="0" i="0">
                <a:solidFill>
                  <a:srgbClr val="E2E8F0"/>
                </a:solidFill>
                <a:latin typeface="Arial"/>
              </a:rPr>
              <a:t>• Interactive Floor Isolation</a:t>
            </a:r>
          </a:p>
          <a:p>
            <a:pPr>
              <a:spcAft>
                <a:spcPts val="350"/>
              </a:spcAft>
            </a:pPr>
            <a:r>
              <a:rPr sz="850" b="0" i="0">
                <a:solidFill>
                  <a:srgbClr val="E2E8F0"/>
                </a:solidFill>
                <a:latin typeface="Arial"/>
              </a:rPr>
              <a:t>• Solar &amp; Flood Simulation</a:t>
            </a:r>
          </a:p>
          <a:p>
            <a:pPr>
              <a:spcAft>
                <a:spcPts val="350"/>
              </a:spcAft>
            </a:pPr>
            <a:r>
              <a:rPr sz="850" b="0" i="0">
                <a:solidFill>
                  <a:srgbClr val="E2E8F0"/>
                </a:solidFill>
                <a:latin typeface="Arial"/>
              </a:rPr>
              <a:t>• 3D Flyovers &amp; Road Network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502920" y="3529584"/>
            <a:ext cx="2168956" cy="548640"/>
          </a:xfrm>
          <a:prstGeom prst="roundRect">
            <a:avLst/>
          </a:prstGeom>
          <a:solidFill>
            <a:srgbClr val="082F49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4,641</a:t>
            </a:r>
          </a:p>
          <a:p>
            <a:pPr algn="ctr"/>
            <a:r>
              <a:rPr sz="750" b="0" i="0">
                <a:solidFill>
                  <a:srgbClr val="38BDF8"/>
                </a:solidFill>
                <a:latin typeface="Arial"/>
              </a:rPr>
              <a:t>Buildings Processed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2809036" y="3529584"/>
            <a:ext cx="2168956" cy="548640"/>
          </a:xfrm>
          <a:prstGeom prst="roundRect">
            <a:avLst/>
          </a:prstGeom>
          <a:solidFill>
            <a:srgbClr val="064E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22,761</a:t>
            </a:r>
          </a:p>
          <a:p>
            <a:pPr algn="ctr"/>
            <a:r>
              <a:rPr sz="750" b="0" i="0">
                <a:solidFill>
                  <a:srgbClr val="34D399"/>
                </a:solidFill>
                <a:latin typeface="Arial"/>
              </a:rPr>
              <a:t>3D Vertical Parcels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5115153" y="3529584"/>
            <a:ext cx="2168956" cy="548640"/>
          </a:xfrm>
          <a:prstGeom prst="roundRect">
            <a:avLst/>
          </a:prstGeom>
          <a:solidFill>
            <a:srgbClr val="1E1B4B"/>
          </a:solidFill>
          <a:ln w="1905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238 km</a:t>
            </a:r>
          </a:p>
          <a:p>
            <a:pPr algn="ctr"/>
            <a:r>
              <a:rPr sz="750" b="0" i="0">
                <a:solidFill>
                  <a:srgbClr val="818CF8"/>
                </a:solidFill>
                <a:latin typeface="Arial"/>
              </a:rPr>
              <a:t>Road Network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7421270" y="3529584"/>
            <a:ext cx="2168956" cy="548640"/>
          </a:xfrm>
          <a:prstGeom prst="roundRect">
            <a:avLst/>
          </a:prstGeom>
          <a:solidFill>
            <a:srgbClr val="451A03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12.5s</a:t>
            </a:r>
          </a:p>
          <a:p>
            <a:pPr algn="ctr"/>
            <a:r>
              <a:rPr sz="750" b="0" i="0">
                <a:solidFill>
                  <a:srgbClr val="FBBF24"/>
                </a:solidFill>
                <a:latin typeface="Arial"/>
              </a:rPr>
              <a:t>Pipeline Execution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9727387" y="3529584"/>
            <a:ext cx="2168956" cy="548640"/>
          </a:xfrm>
          <a:prstGeom prst="roundRect">
            <a:avLst/>
          </a:prstGeom>
          <a:solidFill>
            <a:srgbClr val="2E1065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60 FPS</a:t>
            </a:r>
          </a:p>
          <a:p>
            <a:pPr algn="ctr"/>
            <a:r>
              <a:rPr sz="750" b="0" i="0">
                <a:solidFill>
                  <a:srgbClr val="8B5CF6"/>
                </a:solidFill>
                <a:latin typeface="Arial"/>
              </a:rPr>
              <a:t>Rendering Speed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502920" y="4187952"/>
            <a:ext cx="5577840" cy="175564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91440"/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0284C7"/>
                </a:solidFill>
                <a:latin typeface="Arial"/>
              </a:rPr>
              <a:t>Technologies &amp; Frameworks</a:t>
            </a:r>
          </a:p>
          <a:p>
            <a:pPr>
              <a:spcAft>
                <a:spcPts val="250"/>
              </a:spcAft>
            </a:pPr>
            <a:r>
              <a:rPr sz="880" b="1" i="0">
                <a:solidFill>
                  <a:srgbClr val="0F172A"/>
                </a:solidFill>
                <a:latin typeface="Arial"/>
              </a:rPr>
              <a:t>• Core Geospatial: </a:t>
            </a:r>
            <a:r>
              <a:rPr sz="850" b="0" i="0">
                <a:solidFill>
                  <a:srgbClr val="475569"/>
                </a:solidFill>
                <a:latin typeface="Arial"/>
              </a:rPr>
              <a:t>Python 3.10+, GDAL, Rasterio, Shapely, GeoPandas, PyProj, SciPy k-d trees, OpenTopography API.</a:t>
            </a:r>
          </a:p>
          <a:p>
            <a:pPr>
              <a:spcAft>
                <a:spcPts val="250"/>
              </a:spcAft>
            </a:pPr>
            <a:r>
              <a:rPr sz="880" b="1" i="0">
                <a:solidFill>
                  <a:srgbClr val="0F172A"/>
                </a:solidFill>
                <a:latin typeface="Arial"/>
              </a:rPr>
              <a:t>• Elevation &amp; Remote Sensing: </a:t>
            </a:r>
            <a:r>
              <a:rPr sz="850" b="0" i="0">
                <a:solidFill>
                  <a:srgbClr val="475569"/>
                </a:solidFill>
                <a:latin typeface="Arial"/>
              </a:rPr>
              <a:t>Copernicus GLO-30 DSM (30m), SRTM GL1 DEM, ISRO Bhuvan OGC WFS/WMS, OSM Overpass QL, TS-RERA.</a:t>
            </a:r>
          </a:p>
          <a:p>
            <a:pPr>
              <a:spcAft>
                <a:spcPts val="250"/>
              </a:spcAft>
            </a:pPr>
            <a:r>
              <a:rPr sz="880" b="1" i="0">
                <a:solidFill>
                  <a:srgbClr val="0F172A"/>
                </a:solidFill>
                <a:latin typeface="Arial"/>
              </a:rPr>
              <a:t>• 3D Digital Twin Platform: </a:t>
            </a:r>
            <a:r>
              <a:rPr sz="850" b="0" i="0">
                <a:solidFill>
                  <a:srgbClr val="475569"/>
                </a:solidFill>
                <a:latin typeface="Arial"/>
              </a:rPr>
              <a:t>Next.js 16 (Turbopack), React 19, Three.js (r185), React Three Fiber, BatchedMesh / WebGL 2.0.</a:t>
            </a:r>
          </a:p>
        </p:txBody>
      </p:sp>
      <p:sp>
        <p:nvSpPr>
          <p:cNvPr id="17431" name="Rectangle 17430"/>
          <p:cNvSpPr/>
          <p:nvPr/>
        </p:nvSpPr>
        <p:spPr>
          <a:xfrm>
            <a:off x="502920" y="4187952"/>
            <a:ext cx="45720" cy="175564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2" name="Rounded Rectangle 17431"/>
          <p:cNvSpPr/>
          <p:nvPr/>
        </p:nvSpPr>
        <p:spPr>
          <a:xfrm>
            <a:off x="6263640" y="4187952"/>
            <a:ext cx="5632704" cy="175564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91440"/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059669"/>
                </a:solidFill>
                <a:latin typeface="Arial"/>
              </a:rPr>
              <a:t>Methodology &amp; Implementation</a:t>
            </a:r>
          </a:p>
          <a:p>
            <a:pPr>
              <a:spcAft>
                <a:spcPts val="200"/>
              </a:spcAft>
            </a:pPr>
            <a:r>
              <a:rPr sz="880" b="1" i="0">
                <a:solidFill>
                  <a:srgbClr val="0F172A"/>
                </a:solidFill>
                <a:latin typeface="Arial"/>
              </a:rPr>
              <a:t>• 1. Data Ingestion: </a:t>
            </a:r>
            <a:r>
              <a:rPr sz="850" b="0" i="0">
                <a:solidFill>
                  <a:srgbClr val="475569"/>
                </a:solidFill>
                <a:latin typeface="Arial"/>
              </a:rPr>
              <a:t>Bounding box clipping, UTM 44N reprojection, OSM vector extraction, Bhuvan cadastral validation.</a:t>
            </a:r>
          </a:p>
          <a:p>
            <a:pPr>
              <a:spcAft>
                <a:spcPts val="200"/>
              </a:spcAft>
            </a:pPr>
            <a:r>
              <a:rPr sz="880" b="1" i="0">
                <a:solidFill>
                  <a:srgbClr val="0F172A"/>
                </a:solidFill>
                <a:latin typeface="Arial"/>
              </a:rPr>
              <a:t>• 2. Height Engine: </a:t>
            </a:r>
            <a:r>
              <a:rPr sz="850" b="0" i="0">
                <a:solidFill>
                  <a:srgbClr val="475569"/>
                </a:solidFill>
                <a:latin typeface="Arial"/>
              </a:rPr>
              <a:t>DSM-DEM zonal diff + annular buffer terrain sampling + morphological typology + landmark registry.</a:t>
            </a:r>
          </a:p>
          <a:p>
            <a:pPr>
              <a:spcAft>
                <a:spcPts val="200"/>
              </a:spcAft>
            </a:pPr>
            <a:r>
              <a:rPr sz="880" b="1" i="0">
                <a:solidFill>
                  <a:srgbClr val="0F172A"/>
                </a:solidFill>
                <a:latin typeface="Arial"/>
              </a:rPr>
              <a:t>• 3. 3D Cadastre: </a:t>
            </a:r>
            <a:r>
              <a:rPr sz="850" b="0" i="0">
                <a:solidFill>
                  <a:srgbClr val="475569"/>
                </a:solidFill>
                <a:latin typeface="Arial"/>
              </a:rPr>
              <a:t>14-digit ULPIN, zero-discrepancy floor normalization (∑ hᵢ ≡ H), dual-tier volumetric parcels.</a:t>
            </a:r>
          </a:p>
          <a:p>
            <a:pPr>
              <a:spcAft>
                <a:spcPts val="200"/>
              </a:spcAft>
            </a:pPr>
            <a:r>
              <a:rPr sz="880" b="1" i="0">
                <a:solidFill>
                  <a:srgbClr val="0F172A"/>
                </a:solidFill>
                <a:latin typeface="Arial"/>
              </a:rPr>
              <a:t>• 4. Digital Twin: </a:t>
            </a:r>
            <a:r>
              <a:rPr sz="850" b="0" i="0">
                <a:solidFill>
                  <a:srgbClr val="475569"/>
                </a:solidFill>
                <a:latin typeface="Arial"/>
              </a:rPr>
              <a:t>Instanced rendering of 4,641 buildings + 238 km roads in 12.5s; interactive floor inspection.</a:t>
            </a:r>
          </a:p>
        </p:txBody>
      </p:sp>
      <p:sp>
        <p:nvSpPr>
          <p:cNvPr id="17433" name="Rectangle 17432"/>
          <p:cNvSpPr/>
          <p:nvPr/>
        </p:nvSpPr>
        <p:spPr>
          <a:xfrm>
            <a:off x="6263640" y="4187952"/>
            <a:ext cx="45720" cy="175564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65960" y="164592"/>
            <a:ext cx="7406640" cy="868680"/>
          </a:xfrm>
        </p:spPr>
        <p:txBody>
          <a:bodyPr anchor="ctr"/>
          <a:lstStyle/>
          <a:p>
            <a:pPr eaLnBrk="1" hangingPunct="1" algn="l"/>
            <a:r>
              <a:rPr sz="2100" b="1" i="0">
                <a:solidFill>
                  <a:srgbClr val="0F172A"/>
                </a:solidFill>
                <a:latin typeface="Arial"/>
              </a:rPr>
              <a:t>FEASIBILITY AND VIABILITY ANALYSIS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411480" y="182880"/>
            <a:ext cx="1417320" cy="777240"/>
          </a:xfrm>
          <a:prstGeom prst="ellipse">
            <a:avLst/>
          </a:prstGeom>
          <a:solidFill>
            <a:srgbClr val="312E81"/>
          </a:solidFill>
          <a:ln w="19050">
            <a:solidFill>
              <a:srgbClr val="6366F1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45720" rIns="4572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GeoVoxel</a:t>
            </a:r>
            <a:endParaRPr lang="en-IN" dirty="0"/>
          </a:p>
          <a:p>
            <a:pPr algn="ctr"/>
            <a:r>
              <a:rPr sz="850" b="0">
                <a:solidFill>
                  <a:srgbClr val="A5B4FC"/>
                </a:solidFill>
                <a:latin typeface="Arial"/>
              </a:rPr>
              <a:t>The coders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502920" y="1188720"/>
            <a:ext cx="3611880" cy="47548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82880" bIns="91440"/>
          <a:lstStyle/>
          <a:p>
            <a:pPr algn="ctr">
              <a:spcAft>
                <a:spcPts val="800"/>
              </a:spcAft>
            </a:pPr>
            <a:r>
              <a:rPr sz="1200" b="1" i="0">
                <a:solidFill>
                  <a:srgbClr val="0284C7"/>
                </a:solidFill>
                <a:latin typeface="Arial"/>
              </a:rPr>
              <a:t>✅ Analysis of Feasibility</a:t>
            </a:r>
          </a:p>
          <a:p>
            <a:pPr>
              <a:spcAft>
                <a:spcPts val="600"/>
              </a:spcAft>
            </a:pPr>
            <a:r>
              <a:rPr sz="919" b="1" i="0">
                <a:solidFill>
                  <a:srgbClr val="0284C7"/>
                </a:solidFill>
                <a:latin typeface="Arial"/>
              </a:rPr>
              <a:t>• Data Feasibility: </a:t>
            </a:r>
            <a:r>
              <a:rPr sz="850" b="0" i="0">
                <a:solidFill>
                  <a:srgbClr val="475569"/>
                </a:solidFill>
                <a:latin typeface="Arial"/>
              </a:rPr>
              <a:t>100% open, authoritative sovereign data: Copernicus DEM, SRTM, ISRO Bhuvan, OSM, LGD codes. Zero recurring licensing fees.</a:t>
            </a:r>
          </a:p>
          <a:p>
            <a:pPr>
              <a:spcAft>
                <a:spcPts val="600"/>
              </a:spcAft>
            </a:pPr>
            <a:r>
              <a:rPr sz="919" b="1" i="0">
                <a:solidFill>
                  <a:srgbClr val="0284C7"/>
                </a:solidFill>
                <a:latin typeface="Arial"/>
              </a:rPr>
              <a:t>• Operational Feasibility: </a:t>
            </a:r>
            <a:r>
              <a:rPr sz="850" b="0" i="0">
                <a:solidFill>
                  <a:srgbClr val="475569"/>
                </a:solidFill>
                <a:latin typeface="Arial"/>
              </a:rPr>
              <a:t>Master pipeline processes 9 km² (4,641 buildings, 22,761 vertical parcels, 238 km roads) in 12.5 seconds on commodity hardware.</a:t>
            </a:r>
          </a:p>
          <a:p>
            <a:pPr>
              <a:spcAft>
                <a:spcPts val="600"/>
              </a:spcAft>
            </a:pPr>
            <a:r>
              <a:rPr sz="919" b="1" i="0">
                <a:solidFill>
                  <a:srgbClr val="0284C7"/>
                </a:solidFill>
                <a:latin typeface="Arial"/>
              </a:rPr>
              <a:t>• Technical Feasibility: </a:t>
            </a:r>
            <a:r>
              <a:rPr sz="850" b="0" i="0">
                <a:solidFill>
                  <a:srgbClr val="475569"/>
                </a:solidFill>
                <a:latin typeface="Arial"/>
              </a:rPr>
              <a:t>Built on validated open standards: 14-digit DoLR ULPIN, ISO 19152 LADM, OGC CityGML, and GeoJSON-3D.</a:t>
            </a:r>
          </a:p>
          <a:p>
            <a:pPr>
              <a:spcAft>
                <a:spcPts val="600"/>
              </a:spcAft>
            </a:pPr>
            <a:r>
              <a:rPr sz="919" b="1" i="0">
                <a:solidFill>
                  <a:srgbClr val="0284C7"/>
                </a:solidFill>
                <a:latin typeface="Arial"/>
              </a:rPr>
              <a:t>• Deployment Viability: </a:t>
            </a:r>
            <a:r>
              <a:rPr sz="850" b="0" i="0">
                <a:solidFill>
                  <a:srgbClr val="475569"/>
                </a:solidFill>
                <a:latin typeface="Arial"/>
              </a:rPr>
              <a:t>Client-side WebGL viewer runs at 60 FPS in standard desktop/mobile browsers — no GPUs or native installs required.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612648" y="1243584"/>
            <a:ext cx="3392424" cy="36576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ounded Rectangle 17411"/>
          <p:cNvSpPr/>
          <p:nvPr/>
        </p:nvSpPr>
        <p:spPr>
          <a:xfrm>
            <a:off x="4279392" y="1188720"/>
            <a:ext cx="3611880" cy="47548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82880" bIns="91440"/>
          <a:lstStyle/>
          <a:p>
            <a:pPr algn="ctr">
              <a:spcAft>
                <a:spcPts val="800"/>
              </a:spcAft>
            </a:pPr>
            <a:r>
              <a:rPr sz="1200" b="1" i="0">
                <a:solidFill>
                  <a:srgbClr val="E11D48"/>
                </a:solidFill>
                <a:latin typeface="Arial"/>
              </a:rPr>
              <a:t>⚠️ Potential Challenges &amp; Risks</a:t>
            </a:r>
          </a:p>
          <a:p>
            <a:pPr>
              <a:spcAft>
                <a:spcPts val="600"/>
              </a:spcAft>
            </a:pPr>
            <a:r>
              <a:rPr sz="919" b="1" i="0">
                <a:solidFill>
                  <a:srgbClr val="F43F5E"/>
                </a:solidFill>
                <a:latin typeface="Arial"/>
              </a:rPr>
              <a:t>⚠ Satellite Raster Noise: </a:t>
            </a:r>
            <a:r>
              <a:rPr sz="850" b="0" i="0">
                <a:solidFill>
                  <a:srgbClr val="475569"/>
                </a:solidFill>
                <a:latin typeface="Arial"/>
              </a:rPr>
              <a:t>Global 30m DSM/DEM rasters exhibit height distortion and ground clutter in dense high-rise clusters.</a:t>
            </a:r>
          </a:p>
          <a:p>
            <a:pPr>
              <a:spcAft>
                <a:spcPts val="600"/>
              </a:spcAft>
            </a:pPr>
            <a:r>
              <a:rPr sz="919" b="1" i="0">
                <a:solidFill>
                  <a:srgbClr val="F43F5E"/>
                </a:solidFill>
                <a:latin typeface="Arial"/>
              </a:rPr>
              <a:t>⚠ Missing Floor Plans: </a:t>
            </a:r>
            <a:r>
              <a:rPr sz="850" b="0" i="0">
                <a:solidFill>
                  <a:srgbClr val="475569"/>
                </a:solidFill>
                <a:latin typeface="Arial"/>
              </a:rPr>
              <a:t>Over 95% of municipal multi-story buildings lack digitized CAD/BIM floor plans for unit-level mapping.</a:t>
            </a:r>
          </a:p>
          <a:p>
            <a:pPr>
              <a:spcAft>
                <a:spcPts val="600"/>
              </a:spcAft>
            </a:pPr>
            <a:r>
              <a:rPr sz="919" b="1" i="0">
                <a:solidFill>
                  <a:srgbClr val="F43F5E"/>
                </a:solidFill>
                <a:latin typeface="Arial"/>
              </a:rPr>
              <a:t>⚠ Browser Memory Limits: </a:t>
            </a:r>
            <a:r>
              <a:rPr sz="850" b="0" i="0">
                <a:solidFill>
                  <a:srgbClr val="475569"/>
                </a:solidFill>
                <a:latin typeface="Arial"/>
              </a:rPr>
              <a:t>Rendering tens of thousands of volumetric property units simultaneously can exhaust WebGL resources.</a:t>
            </a:r>
          </a:p>
          <a:p>
            <a:pPr>
              <a:spcAft>
                <a:spcPts val="600"/>
              </a:spcAft>
            </a:pPr>
            <a:r>
              <a:rPr sz="919" b="1" i="0">
                <a:solidFill>
                  <a:srgbClr val="F43F5E"/>
                </a:solidFill>
                <a:latin typeface="Arial"/>
              </a:rPr>
              <a:t>⚠ Elevation Drift: </a:t>
            </a:r>
            <a:r>
              <a:rPr sz="850" b="0" i="0">
                <a:solidFill>
                  <a:srgbClr val="475569"/>
                </a:solidFill>
                <a:latin typeface="Arial"/>
              </a:rPr>
              <a:t>Floor slab elevation rounding errors cause cumulative drift between computed slices and physical rooftops.</a:t>
            </a:r>
          </a:p>
        </p:txBody>
      </p:sp>
      <p:sp>
        <p:nvSpPr>
          <p:cNvPr id="17413" name="Rectangle 17412"/>
          <p:cNvSpPr/>
          <p:nvPr/>
        </p:nvSpPr>
        <p:spPr>
          <a:xfrm>
            <a:off x="4389120" y="1243584"/>
            <a:ext cx="3392424" cy="36576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Rounded Rectangle 17413"/>
          <p:cNvSpPr/>
          <p:nvPr/>
        </p:nvSpPr>
        <p:spPr>
          <a:xfrm>
            <a:off x="8055864" y="1188720"/>
            <a:ext cx="3611880" cy="47548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82880" bIns="91440"/>
          <a:lstStyle/>
          <a:p>
            <a:pPr algn="ctr">
              <a:spcAft>
                <a:spcPts val="800"/>
              </a:spcAft>
            </a:pPr>
            <a:r>
              <a:rPr sz="1200" b="1" i="0">
                <a:solidFill>
                  <a:srgbClr val="059669"/>
                </a:solidFill>
                <a:latin typeface="Arial"/>
              </a:rPr>
              <a:t>🛡 Mitigation Strategies</a:t>
            </a:r>
          </a:p>
          <a:p>
            <a:pPr>
              <a:spcAft>
                <a:spcPts val="600"/>
              </a:spcAft>
            </a:pPr>
            <a:r>
              <a:rPr sz="919" b="1" i="0">
                <a:solidFill>
                  <a:srgbClr val="10B981"/>
                </a:solidFill>
                <a:latin typeface="Arial"/>
              </a:rPr>
              <a:t>✓ 5-Tier Fallback Matrix: </a:t>
            </a:r>
            <a:r>
              <a:rPr sz="850" b="0" i="0">
                <a:solidFill>
                  <a:srgbClr val="475569"/>
                </a:solidFill>
                <a:latin typeface="Arial"/>
              </a:rPr>
              <a:t>Combines annular terrain buffering, morphological typology rules, and crowd-verified landmark registries for robust accuracy.</a:t>
            </a:r>
          </a:p>
          <a:p>
            <a:pPr>
              <a:spcAft>
                <a:spcPts val="600"/>
              </a:spcAft>
            </a:pPr>
            <a:r>
              <a:rPr sz="919" b="1" i="0">
                <a:solidFill>
                  <a:srgbClr val="10B981"/>
                </a:solidFill>
                <a:latin typeface="Arial"/>
              </a:rPr>
              <a:t>✓ Dual-Mode Architecture: </a:t>
            </a:r>
            <a:r>
              <a:rPr sz="850" b="0" i="0">
                <a:solidFill>
                  <a:srgbClr val="475569"/>
                </a:solidFill>
                <a:latin typeface="Arial"/>
              </a:rPr>
              <a:t>Automated floor-level vertical partitioning (-FLxx) as standard, seamlessly upgrading to unit-level (-FLxx-Uyyyy) when blueprints exist.</a:t>
            </a:r>
          </a:p>
          <a:p>
            <a:pPr>
              <a:spcAft>
                <a:spcPts val="600"/>
              </a:spcAft>
            </a:pPr>
            <a:r>
              <a:rPr sz="919" b="1" i="0">
                <a:solidFill>
                  <a:srgbClr val="10B981"/>
                </a:solidFill>
                <a:latin typeface="Arial"/>
              </a:rPr>
              <a:t>✓ On-Demand Volumetric LOD: </a:t>
            </a:r>
            <a:r>
              <a:rPr sz="850" b="0" i="0">
                <a:solidFill>
                  <a:srgbClr val="475569"/>
                </a:solidFill>
                <a:latin typeface="Arial"/>
              </a:rPr>
              <a:t>Only the selected building is dynamically extruded into volumetric floor slices; others remain optimized batched meshes at 60 FPS.</a:t>
            </a:r>
          </a:p>
          <a:p>
            <a:pPr>
              <a:spcAft>
                <a:spcPts val="600"/>
              </a:spcAft>
            </a:pPr>
            <a:r>
              <a:rPr sz="919" b="1" i="0">
                <a:solidFill>
                  <a:srgbClr val="10B981"/>
                </a:solidFill>
                <a:latin typeface="Arial"/>
              </a:rPr>
              <a:t>✓ Proportional Normalizer: </a:t>
            </a:r>
            <a:r>
              <a:rPr sz="850" b="0" i="0">
                <a:solidFill>
                  <a:srgbClr val="475569"/>
                </a:solidFill>
                <a:latin typeface="Arial"/>
              </a:rPr>
              <a:t>Strictly enforces ∑ hᵢ ≡ H_building and snaps top floor ceiling to base + total_height with 0.00m error.</a:t>
            </a:r>
          </a:p>
        </p:txBody>
      </p:sp>
      <p:sp>
        <p:nvSpPr>
          <p:cNvPr id="17415" name="Rectangle 17414"/>
          <p:cNvSpPr/>
          <p:nvPr/>
        </p:nvSpPr>
        <p:spPr>
          <a:xfrm>
            <a:off x="8165592" y="1243584"/>
            <a:ext cx="3392424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65960" y="164592"/>
            <a:ext cx="7406640" cy="868680"/>
          </a:xfrm>
        </p:spPr>
        <p:txBody>
          <a:bodyPr anchor="ctr"/>
          <a:lstStyle/>
          <a:p>
            <a:pPr eaLnBrk="1" hangingPunct="1" algn="l"/>
            <a:r>
              <a:rPr sz="2100" b="1" i="0">
                <a:solidFill>
                  <a:srgbClr val="0F172A"/>
                </a:solidFill>
                <a:latin typeface="Arial"/>
              </a:rPr>
              <a:t>IMPACT AND MULTI-SECTOR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411480" y="182880"/>
            <a:ext cx="1417320" cy="777240"/>
          </a:xfrm>
          <a:prstGeom prst="ellipse">
            <a:avLst/>
          </a:prstGeom>
          <a:solidFill>
            <a:srgbClr val="312E81"/>
          </a:solidFill>
          <a:ln w="19050">
            <a:solidFill>
              <a:srgbClr val="6366F1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45720" rIns="4572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GeoVoxel</a:t>
            </a:r>
            <a:endParaRPr lang="en-IN" dirty="0"/>
          </a:p>
          <a:p>
            <a:pPr algn="ctr"/>
            <a:r>
              <a:rPr sz="850" b="0">
                <a:solidFill>
                  <a:srgbClr val="A5B4FC"/>
                </a:solidFill>
                <a:latin typeface="Arial"/>
              </a:rPr>
              <a:t>The coders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502920" y="1188720"/>
            <a:ext cx="5532120" cy="47548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82880" tIns="164592" bIns="91440"/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0284C7"/>
                </a:solidFill>
                <a:latin typeface="Arial"/>
              </a:rPr>
              <a:t>🎯 Potential Impact on Target Audience</a:t>
            </a:r>
          </a:p>
          <a:p>
            <a:pPr>
              <a:spcAft>
                <a:spcPts val="600"/>
              </a:spcAft>
            </a:pPr>
            <a:r>
              <a:rPr sz="950" b="1" i="0">
                <a:solidFill>
                  <a:srgbClr val="0F172A"/>
                </a:solidFill>
                <a:latin typeface="Arial"/>
              </a:rPr>
              <a:t>• Dept. of Land Resources (DoLR) &amp; Survey of India:
</a:t>
            </a:r>
            <a:r>
              <a:rPr sz="880" b="0" i="0">
                <a:solidFill>
                  <a:srgbClr val="475569"/>
                </a:solidFill>
                <a:latin typeface="Arial"/>
              </a:rPr>
              <a:t>  Production-ready blueprint to transition 2D Bhu-Aadhaar into a national 3D cadastral framework, ending airspace boundary overlaps.</a:t>
            </a:r>
          </a:p>
          <a:p>
            <a:pPr>
              <a:spcAft>
                <a:spcPts val="600"/>
              </a:spcAft>
            </a:pPr>
            <a:r>
              <a:rPr sz="950" b="1" i="0">
                <a:solidFill>
                  <a:srgbClr val="0F172A"/>
                </a:solidFill>
                <a:latin typeface="Arial"/>
              </a:rPr>
              <a:t>• Urban Local Bodies (GHMC / Smart City SPVs):
</a:t>
            </a:r>
            <a:r>
              <a:rPr sz="880" b="0" i="0">
                <a:solidFill>
                  <a:srgbClr val="475569"/>
                </a:solidFill>
                <a:latin typeface="Arial"/>
              </a:rPr>
              <a:t>  Unlocks 15–25% higher property tax collection by detecting unassessed floors, unauthorized penthouses, and FAR/FSI violations.</a:t>
            </a:r>
          </a:p>
          <a:p>
            <a:pPr>
              <a:spcAft>
                <a:spcPts val="600"/>
              </a:spcAft>
            </a:pPr>
            <a:r>
              <a:rPr sz="950" b="1" i="0">
                <a:solidFill>
                  <a:srgbClr val="0F172A"/>
                </a:solidFill>
                <a:latin typeface="Arial"/>
              </a:rPr>
              <a:t>• Homebuyers, Citizens &amp; RWA Associations:
</a:t>
            </a:r>
            <a:r>
              <a:rPr sz="880" b="0" i="0">
                <a:solidFill>
                  <a:srgbClr val="475569"/>
                </a:solidFill>
                <a:latin typeface="Arial"/>
              </a:rPr>
              <a:t>  Grants undisputed legal title to specific vertical airspace parcels, replacing fragile Undivided Share of Land (UDS) agreements.</a:t>
            </a:r>
          </a:p>
          <a:p>
            <a:pPr>
              <a:spcAft>
                <a:spcPts val="600"/>
              </a:spcAft>
            </a:pPr>
            <a:r>
              <a:rPr sz="950" b="1" i="0">
                <a:solidFill>
                  <a:srgbClr val="0F172A"/>
                </a:solidFill>
                <a:latin typeface="Arial"/>
              </a:rPr>
              <a:t>• Banks, NBFCs &amp; Mortgage Lenders:
</a:t>
            </a:r>
            <a:r>
              <a:rPr sz="880" b="0" i="0">
                <a:solidFill>
                  <a:srgbClr val="475569"/>
                </a:solidFill>
                <a:latin typeface="Arial"/>
              </a:rPr>
              <a:t>  Instant 3D geospatial collateral verification; completely eliminates fraudulent multi-mortgaging of the same apartment flat.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502920" y="1188720"/>
            <a:ext cx="45720" cy="47548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ounded Rectangle 17411"/>
          <p:cNvSpPr/>
          <p:nvPr/>
        </p:nvSpPr>
        <p:spPr>
          <a:xfrm>
            <a:off x="6263640" y="1188720"/>
            <a:ext cx="5632704" cy="47548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82880" tIns="164592" bIns="91440"/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059669"/>
                </a:solidFill>
                <a:latin typeface="Arial"/>
              </a:rPr>
              <a:t>★ Benefits (Social, Economic, Environmental)</a:t>
            </a:r>
          </a:p>
          <a:p>
            <a:pPr>
              <a:spcAft>
                <a:spcPts val="600"/>
              </a:spcAft>
            </a:pPr>
            <a:r>
              <a:rPr sz="950" b="1" i="0">
                <a:solidFill>
                  <a:srgbClr val="10B981"/>
                </a:solidFill>
                <a:latin typeface="Arial"/>
              </a:rPr>
              <a:t>💰 Economic Benefits:
</a:t>
            </a:r>
            <a:r>
              <a:rPr sz="880" b="0" i="0">
                <a:solidFill>
                  <a:srgbClr val="475569"/>
                </a:solidFill>
                <a:latin typeface="Arial"/>
              </a:rPr>
              <a:t>  Eliminates billions of rupees in civil land litigation; accelerates bank loan approvals from weeks to minutes; enables transparent, view-based property valuations.</a:t>
            </a:r>
          </a:p>
          <a:p>
            <a:pPr>
              <a:spcAft>
                <a:spcPts val="600"/>
              </a:spcAft>
            </a:pPr>
            <a:r>
              <a:rPr sz="950" b="1" i="0">
                <a:solidFill>
                  <a:srgbClr val="10B981"/>
                </a:solidFill>
                <a:latin typeface="Arial"/>
              </a:rPr>
              <a:t>🏛 Social &amp; Governance:
</a:t>
            </a:r>
            <a:r>
              <a:rPr sz="880" b="0" i="0">
                <a:solidFill>
                  <a:srgbClr val="475569"/>
                </a:solidFill>
                <a:latin typeface="Arial"/>
              </a:rPr>
              <a:t>  100% transparency in vertical real estate ownership; prevents double-selling scams; empowers citizens with direct verification of sanctioned boundaries.</a:t>
            </a:r>
          </a:p>
          <a:p>
            <a:pPr>
              <a:spcAft>
                <a:spcPts val="600"/>
              </a:spcAft>
            </a:pPr>
            <a:r>
              <a:rPr sz="950" b="1" i="0">
                <a:solidFill>
                  <a:srgbClr val="10B981"/>
                </a:solidFill>
                <a:latin typeface="Arial"/>
              </a:rPr>
              <a:t>🚨 Disaster Management &amp; Safety:
</a:t>
            </a:r>
            <a:r>
              <a:rPr sz="880" b="0" i="0">
                <a:solidFill>
                  <a:srgbClr val="475569"/>
                </a:solidFill>
                <a:latin typeface="Arial"/>
              </a:rPr>
              <a:t>  Floor-level flood inundation simulation (e.g. Durgam Cheruvu lake breach modeling) identifies submerged levels in real time for precision rescue operations.</a:t>
            </a:r>
          </a:p>
          <a:p>
            <a:pPr>
              <a:spcAft>
                <a:spcPts val="600"/>
              </a:spcAft>
            </a:pPr>
            <a:r>
              <a:rPr sz="950" b="1" i="0">
                <a:solidFill>
                  <a:srgbClr val="10B981"/>
                </a:solidFill>
                <a:latin typeface="Arial"/>
              </a:rPr>
              <a:t>🌿 Environmental &amp; Urban Planning:
</a:t>
            </a:r>
            <a:r>
              <a:rPr sz="880" b="0" i="0">
                <a:solidFill>
                  <a:srgbClr val="475569"/>
                </a:solidFill>
                <a:latin typeface="Arial"/>
              </a:rPr>
              <a:t>  3D solar shadow path analysis enables accurate rooftop solar PV capacity estimation and micro-climate urban heat island mitigation strategies.</a:t>
            </a:r>
          </a:p>
        </p:txBody>
      </p:sp>
      <p:sp>
        <p:nvSpPr>
          <p:cNvPr id="17413" name="Rectangle 17412"/>
          <p:cNvSpPr/>
          <p:nvPr/>
        </p:nvSpPr>
        <p:spPr>
          <a:xfrm>
            <a:off x="6263640" y="1188720"/>
            <a:ext cx="45720" cy="47548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65960" y="164592"/>
            <a:ext cx="7406640" cy="868680"/>
          </a:xfrm>
        </p:spPr>
        <p:txBody>
          <a:bodyPr anchor="ctr"/>
          <a:lstStyle/>
          <a:p>
            <a:pPr eaLnBrk="1" hangingPunct="1" algn="l"/>
            <a:r>
              <a:rPr sz="2100" b="1" i="0">
                <a:solidFill>
                  <a:srgbClr val="0F172A"/>
                </a:solidFill>
                <a:latin typeface="Arial"/>
              </a:rPr>
              <a:t>RESEARCH, REFERENCES &amp; WORKING PROTOTYPE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411480" y="182880"/>
            <a:ext cx="1417320" cy="777240"/>
          </a:xfrm>
          <a:prstGeom prst="ellipse">
            <a:avLst/>
          </a:prstGeom>
          <a:solidFill>
            <a:srgbClr val="312E81"/>
          </a:solidFill>
          <a:ln w="19050">
            <a:solidFill>
              <a:srgbClr val="6366F1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45720" rIns="4572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GeoVoxel</a:t>
            </a:r>
            <a:endParaRPr lang="en-IN" dirty="0"/>
          </a:p>
          <a:p>
            <a:pPr algn="ctr"/>
            <a:r>
              <a:rPr sz="850" b="0">
                <a:solidFill>
                  <a:srgbClr val="A5B4FC"/>
                </a:solidFill>
                <a:latin typeface="Arial"/>
              </a:rPr>
              <a:t>The coders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502920" y="1188720"/>
            <a:ext cx="6217920" cy="47548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82880" tIns="164592" bIns="91440"/>
          <a:lstStyle/>
          <a:p>
            <a:pPr algn="ctr">
              <a:spcAft>
                <a:spcPts val="500"/>
              </a:spcAft>
            </a:pPr>
            <a:r>
              <a:rPr sz="1200" b="1" i="0">
                <a:solidFill>
                  <a:srgbClr val="0284C7"/>
                </a:solidFill>
                <a:latin typeface="Arial"/>
              </a:rPr>
              <a:t>📚 Research &amp; Reference Work</a:t>
            </a:r>
          </a:p>
          <a:p>
            <a:pPr>
              <a:spcAft>
                <a:spcPts val="400"/>
              </a:spcAft>
            </a:pPr>
            <a:r>
              <a:rPr sz="880" b="1" i="0">
                <a:solidFill>
                  <a:srgbClr val="0F172A"/>
                </a:solidFill>
                <a:latin typeface="Arial"/>
              </a:rPr>
              <a:t>• DoLR / NIC Technical Guidelines: </a:t>
            </a:r>
            <a:r>
              <a:rPr sz="819" b="0" i="0">
                <a:solidFill>
                  <a:srgbClr val="475569"/>
                </a:solidFill>
                <a:latin typeface="Arial"/>
              </a:rPr>
              <a:t>Dept. of Land Resources, MoRD, GoI: ULPIN / Bhu-Aadhaar Technical Specifications &amp; Design Guidelines (2021–2024).</a:t>
            </a:r>
          </a:p>
          <a:p>
            <a:pPr>
              <a:spcAft>
                <a:spcPts val="400"/>
              </a:spcAft>
            </a:pPr>
            <a:r>
              <a:rPr sz="880" b="1" i="0">
                <a:solidFill>
                  <a:srgbClr val="0F172A"/>
                </a:solidFill>
                <a:latin typeface="Arial"/>
              </a:rPr>
              <a:t>• ISO 19152:2012 / 2024 (LADM): </a:t>
            </a:r>
            <a:r>
              <a:rPr sz="819" b="0" i="0">
                <a:solidFill>
                  <a:srgbClr val="475569"/>
                </a:solidFill>
                <a:latin typeface="Arial"/>
              </a:rPr>
              <a:t>Geographic Information — Land Administration Domain Model (LADM) — Part 3: 3D/4D Marine and Space Administration.</a:t>
            </a:r>
          </a:p>
          <a:p>
            <a:pPr>
              <a:spcAft>
                <a:spcPts val="400"/>
              </a:spcAft>
            </a:pPr>
            <a:r>
              <a:rPr sz="880" b="1" i="0">
                <a:solidFill>
                  <a:srgbClr val="0F172A"/>
                </a:solidFill>
                <a:latin typeface="Arial"/>
              </a:rPr>
              <a:t>• OGC Geospatial Standards: </a:t>
            </a:r>
            <a:r>
              <a:rPr sz="819" b="0" i="0">
                <a:solidFill>
                  <a:srgbClr val="475569"/>
                </a:solidFill>
                <a:latin typeface="Arial"/>
              </a:rPr>
              <a:t>City Geography Markup Language (CityGML 3.0) &amp; 3D Tiles Community Standard for streaming massive geospatial models.</a:t>
            </a:r>
          </a:p>
          <a:p>
            <a:pPr>
              <a:spcAft>
                <a:spcPts val="400"/>
              </a:spcAft>
            </a:pPr>
            <a:r>
              <a:rPr sz="880" b="1" i="0">
                <a:solidFill>
                  <a:srgbClr val="0F172A"/>
                </a:solidFill>
                <a:latin typeface="Arial"/>
              </a:rPr>
              <a:t>• Survey of India &amp; MoHUA: </a:t>
            </a:r>
            <a:r>
              <a:rPr sz="819" b="0" i="0">
                <a:solidFill>
                  <a:srgbClr val="475569"/>
                </a:solidFill>
                <a:latin typeface="Arial"/>
              </a:rPr>
              <a:t>National Geospatial Policy 2022 &amp; National Urban Digital Mission (NUDM) Smart City guidelines.</a:t>
            </a:r>
          </a:p>
          <a:p>
            <a:pPr>
              <a:spcAft>
                <a:spcPts val="400"/>
              </a:spcAft>
            </a:pPr>
            <a:r>
              <a:rPr sz="880" b="1" i="0">
                <a:solidFill>
                  <a:srgbClr val="0F172A"/>
                </a:solidFill>
                <a:latin typeface="Arial"/>
              </a:rPr>
              <a:t>• Academic Research: </a:t>
            </a:r>
            <a:r>
              <a:rPr sz="819" b="0" i="0">
                <a:solidFill>
                  <a:srgbClr val="475569"/>
                </a:solidFill>
                <a:latin typeface="Arial"/>
              </a:rPr>
              <a:t>Biljecki et al. (2015): 'Applications of 3D City Models' (ISPRS IJGI); Stoter et al. (2020): '3D Cadastre in Practice'.</a:t>
            </a:r>
          </a:p>
          <a:p>
            <a:pPr>
              <a:spcAft>
                <a:spcPts val="400"/>
              </a:spcAft>
            </a:pPr>
            <a:r>
              <a:rPr sz="880" b="1" i="0">
                <a:solidFill>
                  <a:srgbClr val="0F172A"/>
                </a:solidFill>
                <a:latin typeface="Arial"/>
              </a:rPr>
              <a:t>• Authoritative Data Provenance: </a:t>
            </a:r>
            <a:r>
              <a:rPr sz="819" b="0" i="0">
                <a:solidFill>
                  <a:srgbClr val="475569"/>
                </a:solidFill>
                <a:latin typeface="Arial"/>
              </a:rPr>
              <a:t>Copernicus GLO-30 DSM (AWS), SRTM GL1 DEM (OpenTopography), ISRO Bhuvan OGC Geoportal, OSM (ODbL), TS-RERA Portal.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502920" y="1188720"/>
            <a:ext cx="45720" cy="47548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ounded Rectangle 17411"/>
          <p:cNvSpPr/>
          <p:nvPr/>
        </p:nvSpPr>
        <p:spPr>
          <a:xfrm>
            <a:off x="6949440" y="1188720"/>
            <a:ext cx="4709160" cy="100584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82880" tIns="91440" bIns="91440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34D399"/>
                </a:solidFill>
                <a:latin typeface="Arial"/>
              </a:rPr>
              <a:t>🚀 Working Prototype &amp; Open Source Repository</a:t>
            </a:r>
          </a:p>
          <a:p>
            <a:r>
              <a:rPr sz="850" b="1" i="0">
                <a:solidFill>
                  <a:srgbClr val="E2E8F0"/>
                </a:solidFill>
                <a:latin typeface="Arial"/>
              </a:rPr>
              <a:t>• GitHub: </a:t>
            </a:r>
            <a:r>
              <a:rPr sz="850" b="0" i="0">
                <a:solidFill>
                  <a:srgbClr val="22D3EE"/>
                </a:solidFill>
                <a:latin typeface="Arial"/>
              </a:rPr>
              <a:t>github.com/Imad-81/SIH-26011</a:t>
            </a:r>
          </a:p>
          <a:p>
            <a:r>
              <a:rPr sz="850" b="1" i="0">
                <a:solidFill>
                  <a:srgbClr val="E2E8F0"/>
                </a:solidFill>
                <a:latin typeface="Arial"/>
              </a:rPr>
              <a:t>• 3D Viewer: </a:t>
            </a:r>
            <a:r>
              <a:rPr sz="850" b="0" i="0">
                <a:solidFill>
                  <a:srgbClr val="22D3EE"/>
                </a:solidFill>
                <a:latin typeface="Arial"/>
              </a:rPr>
              <a:t>localhost:3000 (Next.js 16 + Three.js r185)</a:t>
            </a:r>
          </a:p>
          <a:p>
            <a:r>
              <a:rPr sz="850" b="1" i="0">
                <a:solidFill>
                  <a:srgbClr val="E2E8F0"/>
                </a:solidFill>
                <a:latin typeface="Arial"/>
              </a:rPr>
              <a:t>• Pipeline: </a:t>
            </a:r>
            <a:r>
              <a:rPr sz="850" b="0" i="0">
                <a:solidFill>
                  <a:srgbClr val="22D3EE"/>
                </a:solidFill>
                <a:latin typeface="Arial"/>
              </a:rPr>
              <a:t>python scripts/pipeline.py --city hyderabad</a:t>
            </a:r>
          </a:p>
        </p:txBody>
      </p:sp>
      <p:sp>
        <p:nvSpPr>
          <p:cNvPr id="17413" name="Rectangle 17412"/>
          <p:cNvSpPr/>
          <p:nvPr/>
        </p:nvSpPr>
        <p:spPr>
          <a:xfrm>
            <a:off x="7040880" y="1234440"/>
            <a:ext cx="452628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14" name="Picture 17413" descr="prototype_cropp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2286000"/>
            <a:ext cx="4709160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